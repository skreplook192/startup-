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9184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LIGHT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8FC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55664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859D"/>
                </a:solidFill>
              </a:rPr>
              <a:t>HobbySphere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89720" y="6455664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59D"/>
                </a:solidFill>
              </a:rPr>
              <a:t>Практика №26 • Стартап в ИТ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modern_3d_rendered_tech_illustration_scene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3">
              <a:alpha val="58000"/>
            </a:srgbClr>
          </a:solidFill>
          <a:ln w="12700">
            <a:solidFill>
              <a:srgbClr val="08122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F7F8FC">
              <a:alpha val="96000"/>
            </a:srgbClr>
          </a:solidFill>
          <a:ln w="12700">
            <a:solidFill>
              <a:srgbClr val="F7F8FC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658368"/>
            <a:ext cx="1783080" cy="310896"/>
          </a:xfrm>
          <a:prstGeom prst="roundRect">
            <a:avLst>
              <a:gd name="adj" fmla="val 41176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9224" y="704088"/>
            <a:ext cx="16733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41B7"/>
                </a:solidFill>
              </a:rPr>
              <a:t>Практическое занятие №26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94360" y="11430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Профиль инвестора и оффер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для проекта HobbySphere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612648" y="2148840"/>
            <a:ext cx="45262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56078"/>
                </a:solidFill>
              </a:rPr>
              <a:t>Мобильное приложение с AI-персонажем, игровыми микроквестами и поиском напарников по хобби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21792" y="2852928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56078"/>
                </a:solidFill>
              </a:rPr>
              <a:t>Сделано по требованиям задания: Investor Persona, оффер, pitch deck, сценарий выступления и Q&amp;A.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621792" y="3794760"/>
            <a:ext cx="1508760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3904488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5A7B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86384" y="432511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56078"/>
                </a:solidFill>
              </a:rPr>
              <a:t>профиля инвестора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240280" y="3794760"/>
            <a:ext cx="1508760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04872" y="3904488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3C16B"/>
                </a:solidFill>
              </a:rPr>
              <a:t>₽8 млн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404872" y="432511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56078"/>
                </a:solidFill>
              </a:rPr>
              <a:t>инвест-оффер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858768" y="3794760"/>
            <a:ext cx="1508760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3904488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</a:rPr>
              <a:t>10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023360" y="432511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56078"/>
                </a:solidFill>
              </a:rPr>
              <a:t>типовых Q&amp;A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384280" y="146304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A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1. Стадия проекта и инвестируемый риск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56078"/>
                </a:solidFill>
              </a:rPr>
              <a:t>Проект логично позиционировать как pre-seed / MVP-концепт с проверкой problem-solution fit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463040"/>
            <a:ext cx="3246120" cy="452628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7373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Что уже подтверждено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8096" y="2057400"/>
            <a:ext cx="269748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— проблема сформулирована через конкретный пользовательский сценарий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— выделены 4 сегмента и приоритетные аудитории старта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— понятно, какие механики отличают продукт от трекеров привычек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— есть гипотеза activation и спроса на social feature</a:t>
            </a:r>
            <a:endParaRPr lang="en-US" sz="1060" dirty="0"/>
          </a:p>
        </p:txBody>
      </p:sp>
      <p:sp>
        <p:nvSpPr>
          <p:cNvPr id="7" name="Text 5"/>
          <p:cNvSpPr/>
          <p:nvPr/>
        </p:nvSpPr>
        <p:spPr>
          <a:xfrm>
            <a:off x="768096" y="466344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41B7"/>
                </a:solidFill>
              </a:rPr>
              <a:t>Стадия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874520" y="462686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56078"/>
                </a:solidFill>
              </a:rPr>
              <a:t>pre-seed / MVP-концепт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977640" y="1463040"/>
            <a:ext cx="3566160" cy="45262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24528" y="17373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Главные риски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24528" y="2057400"/>
            <a:ext cx="283464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— cold start: нет пользователей — нет ценности social layer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— retention: после первой ачивки пользователь может уйти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— модерация и безопасность при офлайн-встречах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— неясно, сколько людей готовы платить за premium-слой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4224528" y="464515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41B7"/>
                </a:solidFill>
              </a:rPr>
              <a:t>Что инвестируется на этой стадии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24528" y="489204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56078"/>
                </a:solidFill>
              </a:rPr>
              <a:t>Способность команды быстро проверить поведенческую гипотезу, а не масштабировать готовый бизнес.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7754112" y="1463040"/>
            <a:ext cx="3904488" cy="4526280"/>
          </a:xfrm>
          <a:prstGeom prst="roundRect">
            <a:avLst>
              <a:gd name="adj" fmla="val 4215"/>
            </a:avLst>
          </a:prstGeom>
          <a:solidFill>
            <a:srgbClr val="EAF0FF"/>
          </a:solidFill>
          <a:ln w="12700">
            <a:solidFill>
              <a:srgbClr val="5A7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10144" y="173736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41B7"/>
                </a:solidFill>
              </a:rPr>
              <a:t>Критерии успеха pre-seed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10144" y="2103120"/>
            <a:ext cx="297180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— activation &gt;35%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— D7 retention &gt;18%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— социальный спрос &gt;20% кликов в «Найти напарника»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— premium conversion как минимум 4% в целевом сегменте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8010144" y="40690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56078"/>
                </a:solidFill>
              </a:rPr>
              <a:t>Вывод: нужен инвестор, которому комфортно входить рано и помогать экспертизой, а не требовать зрелой выручки.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11384280" y="146304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A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2. Investor Persona — основной профиль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56078"/>
                </a:solidFill>
              </a:rPr>
              <a:t>Наиболее релевантен business angel / micro-VC с опытом в consumer/mobile/gamification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10972800" cy="512064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82496"/>
            <a:ext cx="2103120" cy="475488"/>
          </a:xfrm>
          <a:prstGeom prst="rect">
            <a:avLst/>
          </a:prstGeom>
          <a:solidFill>
            <a:srgbClr val="F7F8FC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71800" y="1682496"/>
            <a:ext cx="8412480" cy="475488"/>
          </a:xfrm>
          <a:prstGeom prst="rect">
            <a:avLst/>
          </a:prstGeom>
          <a:solidFill>
            <a:srgbClr val="F7F8FC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79222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F172A"/>
                </a:solidFill>
              </a:rPr>
              <a:t>Тип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3127248" y="17647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Бизнес-ангел / micro-VC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868680" y="2157984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1800" y="2157984"/>
            <a:ext cx="8412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267712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F172A"/>
                </a:solidFill>
              </a:rPr>
              <a:t>Стадия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3127248" y="22402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idea / MVP / pre-seed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68680" y="2633472"/>
            <a:ext cx="2103120" cy="475488"/>
          </a:xfrm>
          <a:prstGeom prst="rect">
            <a:avLst/>
          </a:prstGeom>
          <a:solidFill>
            <a:srgbClr val="F7F8FC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2633472"/>
            <a:ext cx="8412480" cy="475488"/>
          </a:xfrm>
          <a:prstGeom prst="rect">
            <a:avLst/>
          </a:prstGeom>
          <a:solidFill>
            <a:srgbClr val="F7F8FC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743200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F172A"/>
                </a:solidFill>
              </a:rPr>
              <a:t>Чек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3127248" y="271576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5–15 млн ₽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868680" y="310896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3108960"/>
            <a:ext cx="8412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21868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F172A"/>
                </a:solidFill>
              </a:rPr>
              <a:t>Фокус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3127248" y="319125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mobile apps, consumer tech, social, wellness, gamification, AI UX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868680" y="3584448"/>
            <a:ext cx="2103120" cy="475488"/>
          </a:xfrm>
          <a:prstGeom prst="rect">
            <a:avLst/>
          </a:prstGeom>
          <a:solidFill>
            <a:srgbClr val="F7F8FC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3584448"/>
            <a:ext cx="8412480" cy="475488"/>
          </a:xfrm>
          <a:prstGeom prst="rect">
            <a:avLst/>
          </a:prstGeom>
          <a:solidFill>
            <a:srgbClr val="F7F8FC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3694176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F172A"/>
                </a:solidFill>
              </a:rPr>
              <a:t>География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3127248" y="366674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Россия / СНГ, крупные города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868680" y="405993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71800" y="4059936"/>
            <a:ext cx="8412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416966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F172A"/>
                </a:solidFill>
              </a:rPr>
              <a:t>Что важно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3127248" y="41422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рост, продуктовая скорость, команда, early metrics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868680" y="4535424"/>
            <a:ext cx="2103120" cy="475488"/>
          </a:xfrm>
          <a:prstGeom prst="rect">
            <a:avLst/>
          </a:prstGeom>
          <a:solidFill>
            <a:srgbClr val="F7F8FC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71800" y="4535424"/>
            <a:ext cx="8412480" cy="475488"/>
          </a:xfrm>
          <a:prstGeom prst="rect">
            <a:avLst/>
          </a:prstGeom>
          <a:solidFill>
            <a:srgbClr val="F7F8FC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" y="4645152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F172A"/>
                </a:solidFill>
              </a:rPr>
              <a:t>Что хочет увидеть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3127248" y="46177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MVP, воронку активации, первые сигналы retention, понятный ask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868680" y="5010912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71800" y="5010912"/>
            <a:ext cx="8412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7552" y="5120640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F172A"/>
                </a:solidFill>
              </a:rPr>
              <a:t>Почему ему интересно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3127248" y="50932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горизонтальный consumer-play с social loop и потенциальным viral growth</a:t>
            </a:r>
            <a:endParaRPr lang="en-US" sz="1060" dirty="0"/>
          </a:p>
        </p:txBody>
      </p:sp>
      <p:sp>
        <p:nvSpPr>
          <p:cNvPr id="37" name="Text 35"/>
          <p:cNvSpPr/>
          <p:nvPr/>
        </p:nvSpPr>
        <p:spPr>
          <a:xfrm>
            <a:off x="11384280" y="146304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3. Investor Persona — альтернативный профиль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100584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56078"/>
                </a:solidFill>
              </a:rPr>
              <a:t>Альтернатива — акселератор / early-stage программа, где ценность не только в деньгах, но и в структуре роста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972800" cy="512064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82496"/>
            <a:ext cx="2103120" cy="585216"/>
          </a:xfrm>
          <a:prstGeom prst="rect">
            <a:avLst/>
          </a:prstGeom>
          <a:solidFill>
            <a:srgbClr val="F7F8FC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71800" y="1682496"/>
            <a:ext cx="8412480" cy="585216"/>
          </a:xfrm>
          <a:prstGeom prst="rect">
            <a:avLst/>
          </a:prstGeom>
          <a:solidFill>
            <a:srgbClr val="F7F8FC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84708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F172A"/>
                </a:solidFill>
              </a:rPr>
              <a:t>Тип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3127248" y="1792224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Акселератор / инкубатор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868680" y="2267712"/>
            <a:ext cx="21031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1800" y="2267712"/>
            <a:ext cx="8412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43230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F172A"/>
                </a:solidFill>
              </a:rPr>
              <a:t>Стадия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3127248" y="237744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до запуска или ранний MVP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68680" y="2852928"/>
            <a:ext cx="2103120" cy="585216"/>
          </a:xfrm>
          <a:prstGeom prst="rect">
            <a:avLst/>
          </a:prstGeom>
          <a:solidFill>
            <a:srgbClr val="F7F8FC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2852928"/>
            <a:ext cx="8412480" cy="585216"/>
          </a:xfrm>
          <a:prstGeom prst="rect">
            <a:avLst/>
          </a:prstGeom>
          <a:solidFill>
            <a:srgbClr val="F7F8FC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017520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F172A"/>
                </a:solidFill>
              </a:rPr>
              <a:t>Форма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3127248" y="2962656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небольшой чек + программа + менторство + demo day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868680" y="3438144"/>
            <a:ext cx="21031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3438144"/>
            <a:ext cx="8412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602736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F172A"/>
                </a:solidFill>
              </a:rPr>
              <a:t>Фокус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3127248" y="354787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скорость запуска, тестирование гипотез, фандрайзинг readiness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868680" y="4023360"/>
            <a:ext cx="2103120" cy="585216"/>
          </a:xfrm>
          <a:prstGeom prst="rect">
            <a:avLst/>
          </a:prstGeom>
          <a:solidFill>
            <a:srgbClr val="F7F8FC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4023360"/>
            <a:ext cx="8412480" cy="585216"/>
          </a:xfrm>
          <a:prstGeom prst="rect">
            <a:avLst/>
          </a:prstGeom>
          <a:solidFill>
            <a:srgbClr val="F7F8FC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4187952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F172A"/>
                </a:solidFill>
              </a:rPr>
              <a:t>Что важно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3127248" y="413308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способность команды быстро учиться, честно показывать метрики, проводить эксперименты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868680" y="4608576"/>
            <a:ext cx="21031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71800" y="4608576"/>
            <a:ext cx="8412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477316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F172A"/>
                </a:solidFill>
              </a:rPr>
              <a:t>Что хочет увидеть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3127248" y="4718304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roadmap на 3–6 месяцев, чёткий список рисков, готовность к weekly execution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868680" y="5193792"/>
            <a:ext cx="2103120" cy="585216"/>
          </a:xfrm>
          <a:prstGeom prst="rect">
            <a:avLst/>
          </a:prstGeom>
          <a:solidFill>
            <a:srgbClr val="F7F8FC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71800" y="5193792"/>
            <a:ext cx="8412480" cy="585216"/>
          </a:xfrm>
          <a:prstGeom prst="rect">
            <a:avLst/>
          </a:prstGeom>
          <a:solidFill>
            <a:srgbClr val="F7F8FC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" y="535838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F172A"/>
                </a:solidFill>
              </a:rPr>
              <a:t>Почему нам подходит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3127248" y="530352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помогает структурировать продукт и открыть путь к следующему инвестору</a:t>
            </a:r>
            <a:endParaRPr lang="en-US" sz="1060" dirty="0"/>
          </a:p>
        </p:txBody>
      </p:sp>
      <p:sp>
        <p:nvSpPr>
          <p:cNvPr id="33" name="Text 31"/>
          <p:cNvSpPr/>
          <p:nvPr/>
        </p:nvSpPr>
        <p:spPr>
          <a:xfrm>
            <a:off x="11384280" y="146304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A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4. Инвестиционный оффер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56078"/>
                </a:solidFill>
              </a:rPr>
              <a:t>Ask должен быть связан не с абстрактным ростом, а с конкретным снижением риска проекта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82880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82496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5A7BFF"/>
                </a:solidFill>
              </a:rPr>
              <a:t>₽8 млн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56078"/>
                </a:solidFill>
              </a:rPr>
              <a:t>Ask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0" y="1572768"/>
            <a:ext cx="182880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4912" y="1682496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3C16B"/>
                </a:solidFill>
              </a:rPr>
              <a:t>9 мес.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24912" y="2103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56078"/>
                </a:solidFill>
              </a:rPr>
              <a:t>runway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53712" y="1572768"/>
            <a:ext cx="182880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682496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</a:rPr>
              <a:t>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18304" y="2103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56078"/>
                </a:solidFill>
              </a:rPr>
              <a:t>milestones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47104" y="1572768"/>
            <a:ext cx="182880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1696" y="1682496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C4899"/>
                </a:solidFill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11696" y="2103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56078"/>
                </a:solidFill>
              </a:rPr>
              <a:t>ключевых KPI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017520"/>
            <a:ext cx="5440680" cy="2697480"/>
          </a:xfrm>
          <a:prstGeom prst="roundRect">
            <a:avLst>
              <a:gd name="adj" fmla="val 6102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2735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6576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6078"/>
                </a:solidFill>
              </a:rPr>
              <a:t>Продукт и AI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70248" y="3657600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</a:rPr>
              <a:t>35%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41248" y="3877056"/>
            <a:ext cx="4480560" cy="182880"/>
          </a:xfrm>
          <a:prstGeom prst="roundRect">
            <a:avLst>
              <a:gd name="adj" fmla="val 25000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3877056"/>
            <a:ext cx="1568196" cy="182880"/>
          </a:xfrm>
          <a:prstGeom prst="roundRect">
            <a:avLst>
              <a:gd name="adj" fmla="val 25000"/>
            </a:avLst>
          </a:prstGeom>
          <a:solidFill>
            <a:srgbClr val="5A7BFF"/>
          </a:solidFill>
          <a:ln w="12700">
            <a:solidFill>
              <a:srgbClr val="5A7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18795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6078"/>
                </a:solidFill>
              </a:rPr>
              <a:t>Маркетинг / рост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70248" y="4187952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</a:rPr>
              <a:t>25%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41248" y="4407408"/>
            <a:ext cx="4480560" cy="182880"/>
          </a:xfrm>
          <a:prstGeom prst="roundRect">
            <a:avLst>
              <a:gd name="adj" fmla="val 25000"/>
            </a:avLst>
          </a:prstGeom>
          <a:solidFill>
            <a:srgbClr val="EAF9F1"/>
          </a:solidFill>
          <a:ln w="12700">
            <a:solidFill>
              <a:srgbClr val="EAF9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4407408"/>
            <a:ext cx="1120140" cy="182880"/>
          </a:xfrm>
          <a:prstGeom prst="roundRect">
            <a:avLst>
              <a:gd name="adj" fmla="val 25000"/>
            </a:avLst>
          </a:prstGeom>
          <a:solidFill>
            <a:srgbClr val="23C16B"/>
          </a:solidFill>
          <a:ln w="12700">
            <a:solidFill>
              <a:srgbClr val="23C1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718304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6078"/>
                </a:solidFill>
              </a:rPr>
              <a:t>Команда / модерация / ops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70248" y="4718304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</a:rPr>
              <a:t>40%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41248" y="4937760"/>
            <a:ext cx="4480560" cy="182880"/>
          </a:xfrm>
          <a:prstGeom prst="roundRect">
            <a:avLst>
              <a:gd name="adj" fmla="val 25000"/>
            </a:avLst>
          </a:prstGeom>
          <a:solidFill>
            <a:srgbClr val="F1EBFF"/>
          </a:solidFill>
          <a:ln w="12700">
            <a:solidFill>
              <a:srgbClr val="F1EB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" y="4937760"/>
            <a:ext cx="1792224" cy="18288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36208" y="3017520"/>
            <a:ext cx="5394960" cy="2697480"/>
          </a:xfrm>
          <a:prstGeom prst="roundRect">
            <a:avLst>
              <a:gd name="adj" fmla="val 6102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27355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Основные риски и как инвестиции их снижают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92240" y="3675888"/>
            <a:ext cx="438912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— cold start → пилотируем в 2 городах и вводим соло-квесты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— retention → строим длинные квест-цепочки и редкие награды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— модерация → рейтинг, жалобы, базовые правила безопасности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556078"/>
                </a:solidFill>
              </a:rPr>
              <a:t>— монетизация → тестируем premium только после валидации core loop</a:t>
            </a:r>
            <a:endParaRPr lang="en-US" sz="1060" dirty="0"/>
          </a:p>
        </p:txBody>
      </p:sp>
      <p:sp>
        <p:nvSpPr>
          <p:cNvPr id="33" name="Text 31"/>
          <p:cNvSpPr/>
          <p:nvPr/>
        </p:nvSpPr>
        <p:spPr>
          <a:xfrm>
            <a:off x="11384280" y="146304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A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5. Milestones и KPI на инвестицию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56078"/>
                </a:solidFill>
              </a:rPr>
              <a:t>Период проверки: 3–6 месяцев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86400" cy="448056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105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Milestones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39696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56078"/>
                </a:solidFill>
              </a:rPr>
              <a:t>1. Запуск MVP с AI-онбордингом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78"/>
                </a:solidFill>
              </a:rPr>
              <a:t>2. 4 базовые категории хобби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78"/>
                </a:solidFill>
              </a:rPr>
              <a:t>3. 5 000 регистраций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78"/>
                </a:solidFill>
              </a:rPr>
              <a:t>4. Activation rate &gt;35%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78"/>
                </a:solidFill>
              </a:rPr>
              <a:t>5. D7 retention &gt;18%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78"/>
                </a:solidFill>
              </a:rPr>
              <a:t>6. Проверка social matching и premium paywall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321808" cy="448056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105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KPI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65392" y="213055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6078"/>
                </a:solidFill>
              </a:rPr>
              <a:t>Activation rate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811512" y="2130552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</a:rPr>
              <a:t>&gt;35%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65392" y="2350008"/>
            <a:ext cx="4297680" cy="201168"/>
          </a:xfrm>
          <a:prstGeom prst="roundRect">
            <a:avLst>
              <a:gd name="adj" fmla="val 22727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65392" y="2350008"/>
            <a:ext cx="1504188" cy="201168"/>
          </a:xfrm>
          <a:prstGeom prst="roundRect">
            <a:avLst>
              <a:gd name="adj" fmla="val 22727"/>
            </a:avLst>
          </a:prstGeom>
          <a:solidFill>
            <a:srgbClr val="5A7BFF"/>
          </a:solidFill>
          <a:ln w="12700">
            <a:solidFill>
              <a:srgbClr val="5A7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277063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6078"/>
                </a:solidFill>
              </a:rPr>
              <a:t>D7 retention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811512" y="2770632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</a:rPr>
              <a:t>&gt;18%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65392" y="2990088"/>
            <a:ext cx="4297680" cy="201168"/>
          </a:xfrm>
          <a:prstGeom prst="roundRect">
            <a:avLst>
              <a:gd name="adj" fmla="val 22727"/>
            </a:avLst>
          </a:prstGeom>
          <a:solidFill>
            <a:srgbClr val="EAF9F1"/>
          </a:solidFill>
          <a:ln w="12700">
            <a:solidFill>
              <a:srgbClr val="EAF9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65392" y="2990088"/>
            <a:ext cx="773582" cy="201168"/>
          </a:xfrm>
          <a:prstGeom prst="roundRect">
            <a:avLst>
              <a:gd name="adj" fmla="val 22727"/>
            </a:avLst>
          </a:prstGeom>
          <a:solidFill>
            <a:srgbClr val="23C16B"/>
          </a:solidFill>
          <a:ln w="12700">
            <a:solidFill>
              <a:srgbClr val="23C1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341071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6078"/>
                </a:solidFill>
              </a:rPr>
              <a:t>Найти напарника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811512" y="3410712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</a:rPr>
              <a:t>&gt;20%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65392" y="3630168"/>
            <a:ext cx="4297680" cy="201168"/>
          </a:xfrm>
          <a:prstGeom prst="roundRect">
            <a:avLst>
              <a:gd name="adj" fmla="val 22727"/>
            </a:avLst>
          </a:prstGeom>
          <a:solidFill>
            <a:srgbClr val="F1EBFF"/>
          </a:solidFill>
          <a:ln w="12700">
            <a:solidFill>
              <a:srgbClr val="F1EB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65392" y="3630168"/>
            <a:ext cx="859536" cy="201168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405079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6078"/>
                </a:solidFill>
              </a:rPr>
              <a:t>Premium conversion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811512" y="4050792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</a:rPr>
              <a:t>4%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65392" y="4270248"/>
            <a:ext cx="4297680" cy="201168"/>
          </a:xfrm>
          <a:prstGeom prst="roundRect">
            <a:avLst>
              <a:gd name="adj" fmla="val 22727"/>
            </a:avLst>
          </a:prstGeom>
          <a:solidFill>
            <a:srgbClr val="FDEBF5"/>
          </a:solidFill>
          <a:ln w="12700">
            <a:solidFill>
              <a:srgbClr val="FDEB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65392" y="4270248"/>
            <a:ext cx="429768" cy="201168"/>
          </a:xfrm>
          <a:prstGeom prst="roundRect">
            <a:avLst>
              <a:gd name="adj" fmla="val 22727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5392" y="480060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56078"/>
                </a:solidFill>
              </a:rPr>
              <a:t>Главный критерий успеха: пользователь дошёл до первого задания и нажал «Выполнил».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11384280" y="146304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A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6. Investment Thesis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56078"/>
                </a:solidFill>
              </a:rPr>
              <a:t>Краткая инвестиционная история должна связать проблему, решение, момент на рынке и выгоду для инвестора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10561320" cy="4526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965960"/>
            <a:ext cx="10012680" cy="3840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556078"/>
                </a:solidFill>
              </a:rPr>
              <a:t>1. У миллионов людей есть «отложенные хобби», которые не превращаются в действие без внешней структуры.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556078"/>
                </a:solidFill>
              </a:rPr>
              <a:t>2. Существующие решения решают только часть задачи: либо трекинг привычки, либо нишевую геймификацию, либо просто сообщество.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556078"/>
                </a:solidFill>
              </a:rPr>
              <a:t>3. HobbySphere снижает барьер входа через AI-персонажа, который сразу превращает желание в выполнимый микроквест.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556078"/>
                </a:solidFill>
              </a:rPr>
              <a:t>4. Социальный слой с поиском напарника усиливает подотчётность и делает хобби не одиноким занятием, а совместным опытом.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556078"/>
                </a:solidFill>
              </a:rPr>
              <a:t>5. Игровой 3D-мир создаёт эмоциональную награду и визуальный прогресс, что повышает шансы на повторное возвращение.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556078"/>
                </a:solidFill>
              </a:rPr>
              <a:t>6. На pre-seed стадии инвестиция нужна, чтобы доказать activation + retention + social demand и открыть путь к следующему раунду роста.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11384280" y="146304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A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7. Сценарий выступления на 5–7 минут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56078"/>
                </a:solidFill>
              </a:rPr>
              <a:t>Пример структуры питча по минутам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15600" cy="475488"/>
          </a:xfrm>
          <a:prstGeom prst="roundRect">
            <a:avLst>
              <a:gd name="adj" fmla="val 34615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72821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10" b="1" dirty="0">
                <a:solidFill>
                  <a:srgbClr val="2441B7"/>
                </a:solidFill>
              </a:rPr>
              <a:t>0:00–0:40</a:t>
            </a:r>
            <a:endParaRPr lang="en-US" sz="1110" dirty="0"/>
          </a:p>
        </p:txBody>
      </p:sp>
      <p:sp>
        <p:nvSpPr>
          <p:cNvPr id="6" name="Text 4"/>
          <p:cNvSpPr/>
          <p:nvPr/>
        </p:nvSpPr>
        <p:spPr>
          <a:xfrm>
            <a:off x="2240280" y="170992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556078"/>
                </a:solidFill>
              </a:rPr>
              <a:t>Кто мы и какую боль решаем</a:t>
            </a:r>
            <a:endParaRPr lang="en-US" sz="1090" dirty="0"/>
          </a:p>
        </p:txBody>
      </p:sp>
      <p:sp>
        <p:nvSpPr>
          <p:cNvPr id="7" name="Shape 5"/>
          <p:cNvSpPr/>
          <p:nvPr/>
        </p:nvSpPr>
        <p:spPr>
          <a:xfrm>
            <a:off x="822960" y="2130552"/>
            <a:ext cx="10515600" cy="475488"/>
          </a:xfrm>
          <a:prstGeom prst="roundRect">
            <a:avLst>
              <a:gd name="adj" fmla="val 34615"/>
            </a:avLst>
          </a:prstGeom>
          <a:solidFill>
            <a:srgbClr val="F7F8FC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25856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10" b="1" dirty="0">
                <a:solidFill>
                  <a:srgbClr val="2441B7"/>
                </a:solidFill>
              </a:rPr>
              <a:t>0:40–1:20</a:t>
            </a:r>
            <a:endParaRPr lang="en-US" sz="1110" dirty="0"/>
          </a:p>
        </p:txBody>
      </p:sp>
      <p:sp>
        <p:nvSpPr>
          <p:cNvPr id="9" name="Text 7"/>
          <p:cNvSpPr/>
          <p:nvPr/>
        </p:nvSpPr>
        <p:spPr>
          <a:xfrm>
            <a:off x="2240280" y="224028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556078"/>
                </a:solidFill>
              </a:rPr>
              <a:t>История Ивана и почему существующие решения не работают</a:t>
            </a:r>
            <a:endParaRPr lang="en-US" sz="1090" dirty="0"/>
          </a:p>
        </p:txBody>
      </p:sp>
      <p:sp>
        <p:nvSpPr>
          <p:cNvPr id="10" name="Shape 8"/>
          <p:cNvSpPr/>
          <p:nvPr/>
        </p:nvSpPr>
        <p:spPr>
          <a:xfrm>
            <a:off x="822960" y="2660904"/>
            <a:ext cx="10515600" cy="475488"/>
          </a:xfrm>
          <a:prstGeom prst="roundRect">
            <a:avLst>
              <a:gd name="adj" fmla="val 34615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78892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10" b="1" dirty="0">
                <a:solidFill>
                  <a:srgbClr val="2441B7"/>
                </a:solidFill>
              </a:rPr>
              <a:t>1:20–2:10</a:t>
            </a:r>
            <a:endParaRPr lang="en-US" sz="1110" dirty="0"/>
          </a:p>
        </p:txBody>
      </p:sp>
      <p:sp>
        <p:nvSpPr>
          <p:cNvPr id="12" name="Text 10"/>
          <p:cNvSpPr/>
          <p:nvPr/>
        </p:nvSpPr>
        <p:spPr>
          <a:xfrm>
            <a:off x="2240280" y="277063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556078"/>
                </a:solidFill>
              </a:rPr>
              <a:t>Как работает продукт: AI → микроквест → social → 3D progress</a:t>
            </a:r>
            <a:endParaRPr lang="en-US" sz="1090" dirty="0"/>
          </a:p>
        </p:txBody>
      </p:sp>
      <p:sp>
        <p:nvSpPr>
          <p:cNvPr id="13" name="Shape 11"/>
          <p:cNvSpPr/>
          <p:nvPr/>
        </p:nvSpPr>
        <p:spPr>
          <a:xfrm>
            <a:off x="822960" y="3191256"/>
            <a:ext cx="10515600" cy="475488"/>
          </a:xfrm>
          <a:prstGeom prst="roundRect">
            <a:avLst>
              <a:gd name="adj" fmla="val 34615"/>
            </a:avLst>
          </a:prstGeom>
          <a:solidFill>
            <a:srgbClr val="F7F8FC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31927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10" b="1" dirty="0">
                <a:solidFill>
                  <a:srgbClr val="2441B7"/>
                </a:solidFill>
              </a:rPr>
              <a:t>2:10–3:00</a:t>
            </a:r>
            <a:endParaRPr lang="en-US" sz="1110" dirty="0"/>
          </a:p>
        </p:txBody>
      </p:sp>
      <p:sp>
        <p:nvSpPr>
          <p:cNvPr id="15" name="Text 13"/>
          <p:cNvSpPr/>
          <p:nvPr/>
        </p:nvSpPr>
        <p:spPr>
          <a:xfrm>
            <a:off x="2240280" y="3300984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556078"/>
                </a:solidFill>
              </a:rPr>
              <a:t>Клиент, сегменты и почему стартуем с S2+S1</a:t>
            </a:r>
            <a:endParaRPr lang="en-US" sz="1090" dirty="0"/>
          </a:p>
        </p:txBody>
      </p:sp>
      <p:sp>
        <p:nvSpPr>
          <p:cNvPr id="16" name="Shape 14"/>
          <p:cNvSpPr/>
          <p:nvPr/>
        </p:nvSpPr>
        <p:spPr>
          <a:xfrm>
            <a:off x="822960" y="3721608"/>
            <a:ext cx="10515600" cy="475488"/>
          </a:xfrm>
          <a:prstGeom prst="roundRect">
            <a:avLst>
              <a:gd name="adj" fmla="val 34615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84962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10" b="1" dirty="0">
                <a:solidFill>
                  <a:srgbClr val="2441B7"/>
                </a:solidFill>
              </a:rPr>
              <a:t>3:00–3:50</a:t>
            </a:r>
            <a:endParaRPr lang="en-US" sz="1110" dirty="0"/>
          </a:p>
        </p:txBody>
      </p:sp>
      <p:sp>
        <p:nvSpPr>
          <p:cNvPr id="18" name="Text 16"/>
          <p:cNvSpPr/>
          <p:nvPr/>
        </p:nvSpPr>
        <p:spPr>
          <a:xfrm>
            <a:off x="2240280" y="3831336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556078"/>
                </a:solidFill>
              </a:rPr>
              <a:t>Конкуренты и чем мы отличаемся</a:t>
            </a:r>
            <a:endParaRPr lang="en-US" sz="1090" dirty="0"/>
          </a:p>
        </p:txBody>
      </p:sp>
      <p:sp>
        <p:nvSpPr>
          <p:cNvPr id="19" name="Shape 17"/>
          <p:cNvSpPr/>
          <p:nvPr/>
        </p:nvSpPr>
        <p:spPr>
          <a:xfrm>
            <a:off x="822960" y="4251960"/>
            <a:ext cx="10515600" cy="475488"/>
          </a:xfrm>
          <a:prstGeom prst="roundRect">
            <a:avLst>
              <a:gd name="adj" fmla="val 34615"/>
            </a:avLst>
          </a:prstGeom>
          <a:solidFill>
            <a:srgbClr val="F7F8FC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437997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10" b="1" dirty="0">
                <a:solidFill>
                  <a:srgbClr val="2441B7"/>
                </a:solidFill>
              </a:rPr>
              <a:t>3:50–4:40</a:t>
            </a:r>
            <a:endParaRPr lang="en-US" sz="1110" dirty="0"/>
          </a:p>
        </p:txBody>
      </p:sp>
      <p:sp>
        <p:nvSpPr>
          <p:cNvPr id="21" name="Text 19"/>
          <p:cNvSpPr/>
          <p:nvPr/>
        </p:nvSpPr>
        <p:spPr>
          <a:xfrm>
            <a:off x="2240280" y="436168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556078"/>
                </a:solidFill>
              </a:rPr>
              <a:t>Модель денег и логика роста</a:t>
            </a:r>
            <a:endParaRPr lang="en-US" sz="1090" dirty="0"/>
          </a:p>
        </p:txBody>
      </p:sp>
      <p:sp>
        <p:nvSpPr>
          <p:cNvPr id="22" name="Shape 20"/>
          <p:cNvSpPr/>
          <p:nvPr/>
        </p:nvSpPr>
        <p:spPr>
          <a:xfrm>
            <a:off x="822960" y="4782312"/>
            <a:ext cx="10515600" cy="475488"/>
          </a:xfrm>
          <a:prstGeom prst="roundRect">
            <a:avLst>
              <a:gd name="adj" fmla="val 34615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491032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10" b="1" dirty="0">
                <a:solidFill>
                  <a:srgbClr val="2441B7"/>
                </a:solidFill>
              </a:rPr>
              <a:t>4:40–5:40</a:t>
            </a:r>
            <a:endParaRPr lang="en-US" sz="1110" dirty="0"/>
          </a:p>
        </p:txBody>
      </p:sp>
      <p:sp>
        <p:nvSpPr>
          <p:cNvPr id="24" name="Text 22"/>
          <p:cNvSpPr/>
          <p:nvPr/>
        </p:nvSpPr>
        <p:spPr>
          <a:xfrm>
            <a:off x="2240280" y="489204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556078"/>
                </a:solidFill>
              </a:rPr>
              <a:t>Ask, milestones, что инвестор получает на свои деньги</a:t>
            </a:r>
            <a:endParaRPr lang="en-US" sz="1090" dirty="0"/>
          </a:p>
        </p:txBody>
      </p:sp>
      <p:sp>
        <p:nvSpPr>
          <p:cNvPr id="25" name="Shape 23"/>
          <p:cNvSpPr/>
          <p:nvPr/>
        </p:nvSpPr>
        <p:spPr>
          <a:xfrm>
            <a:off x="822960" y="5312664"/>
            <a:ext cx="10515600" cy="475488"/>
          </a:xfrm>
          <a:prstGeom prst="roundRect">
            <a:avLst>
              <a:gd name="adj" fmla="val 34615"/>
            </a:avLst>
          </a:prstGeom>
          <a:solidFill>
            <a:srgbClr val="F7F8FC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544068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10" b="1" dirty="0">
                <a:solidFill>
                  <a:srgbClr val="2441B7"/>
                </a:solidFill>
              </a:rPr>
              <a:t>5:40–6:20</a:t>
            </a:r>
            <a:endParaRPr lang="en-US" sz="1110" dirty="0"/>
          </a:p>
        </p:txBody>
      </p:sp>
      <p:sp>
        <p:nvSpPr>
          <p:cNvPr id="27" name="Text 25"/>
          <p:cNvSpPr/>
          <p:nvPr/>
        </p:nvSpPr>
        <p:spPr>
          <a:xfrm>
            <a:off x="2240280" y="542239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556078"/>
                </a:solidFill>
              </a:rPr>
              <a:t>Closing: почему сейчас и почему мы</a:t>
            </a:r>
            <a:endParaRPr lang="en-US" sz="1090" dirty="0"/>
          </a:p>
        </p:txBody>
      </p:sp>
      <p:sp>
        <p:nvSpPr>
          <p:cNvPr id="28" name="Text 26"/>
          <p:cNvSpPr/>
          <p:nvPr/>
        </p:nvSpPr>
        <p:spPr>
          <a:xfrm>
            <a:off x="11384280" y="146304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A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8. Типовые вопросы инвестора — Q&amp;A (1/2)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56078"/>
                </a:solidFill>
              </a:rPr>
              <a:t>Короткие ответы лучше длинной защиты: 2–4 предложения на вопрос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76225" y="1783080"/>
            <a:ext cx="10904220" cy="4654296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556078"/>
                </a:solidFill>
              </a:rPr>
              <a:t>1. Почему люди не останутся просто в TikTok или Discord?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556078"/>
                </a:solidFill>
              </a:rPr>
              <a:t>Потому что там есть контент и общение, но нет поведенческого триггера «сделай маленький шаг сейчас» и нет системы прогресса.</a:t>
            </a:r>
            <a:endParaRPr lang="en-US" sz="1110" dirty="0"/>
          </a:p>
          <a:p>
            <a:pPr marL="0" indent="0">
              <a:buNone/>
            </a:pP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556078"/>
                </a:solidFill>
              </a:rPr>
              <a:t>2. Почему вы считаете, что social matching нужен?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556078"/>
                </a:solidFill>
              </a:rPr>
              <a:t>Это не догма, а проверяемая гипотеза. Мы отдельно меряем долю кликов по кнопке «Найти напарника» и влияние функции на retention.</a:t>
            </a:r>
            <a:endParaRPr lang="en-US" sz="1110" dirty="0"/>
          </a:p>
          <a:p>
            <a:pPr marL="0" indent="0">
              <a:buNone/>
            </a:pP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556078"/>
                </a:solidFill>
              </a:rPr>
              <a:t>3. Что если в городе мало пользователей?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556078"/>
                </a:solidFill>
              </a:rPr>
              <a:t>На старте работает режим соло-квестов, а social matching ограничивается пилотными городами.</a:t>
            </a:r>
            <a:endParaRPr lang="en-US" sz="1110" dirty="0"/>
          </a:p>
          <a:p>
            <a:pPr marL="0" indent="0">
              <a:buNone/>
            </a:pP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556078"/>
                </a:solidFill>
              </a:rPr>
              <a:t>4. Почему пользователь будет платить?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556078"/>
                </a:solidFill>
              </a:rPr>
              <a:t>Платёж делается не за базовый трекер, а за расширенный AI-коучинг, редкие предметы мира и длинные квест-цепочки.</a:t>
            </a:r>
            <a:endParaRPr lang="en-US" sz="1110" dirty="0"/>
          </a:p>
        </p:txBody>
      </p:sp>
      <p:sp>
        <p:nvSpPr>
          <p:cNvPr id="6" name="Text 4"/>
          <p:cNvSpPr/>
          <p:nvPr/>
        </p:nvSpPr>
        <p:spPr>
          <a:xfrm>
            <a:off x="11384280" y="146304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A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9. Типовые вопросы инвестора — Q&amp;A (2/2)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56078"/>
                </a:solidFill>
              </a:rPr>
              <a:t>Ещё шесть вопросов для защиты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30936" y="1929955"/>
            <a:ext cx="10972800" cy="4223385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55648"/>
            <a:ext cx="10241280" cy="4572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56078"/>
                </a:solidFill>
              </a:rPr>
              <a:t>5. Чем вы лучше Habitica?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78"/>
                </a:solidFill>
              </a:rPr>
              <a:t>Habitica хорошо работает как RPG-трекер, но не даёт AI-онбординг и поиск напарника по любому хобби.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78"/>
                </a:solidFill>
              </a:rPr>
              <a:t>6. Какая главная метрика?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78"/>
                </a:solidFill>
              </a:rPr>
              <a:t>Activation rate: доля пользователей, дошедших до первого задания и нажавших «Выполнил».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78"/>
                </a:solidFill>
              </a:rPr>
              <a:t>7. Почему ask именно 8 млн ₽?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78"/>
                </a:solidFill>
              </a:rPr>
              <a:t>Эта сумма покрывает 9 месяцев runway и даёт ресурс на продукт, рост, аналитику и модерацию без преждевременного усложнения.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78"/>
                </a:solidFill>
              </a:rPr>
              <a:t>8. Что станет триггером следующего раунда?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78"/>
                </a:solidFill>
              </a:rPr>
              <a:t>Устойчивые activation/retention метрики, подтверждённый social demand и первая платёжная конверсия.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78"/>
                </a:solidFill>
              </a:rPr>
              <a:t>9. Какие риски безопасности?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78"/>
                </a:solidFill>
              </a:rPr>
              <a:t>Рейтинг пользователей, жалобы, безопасные правила офлайн-встреч и ограничение social сценариев по мере роста.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78"/>
                </a:solidFill>
              </a:rPr>
              <a:t>10. Почему инвестору выгодно заходить сейчас?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78"/>
                </a:solidFill>
              </a:rPr>
              <a:t>Потому что на этой стадии valuation ниже, а риск можно снизить серией чётких product-экспериментов за 3–6 месяцев.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84280" y="146304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10. Вывод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56078"/>
                </a:solidFill>
              </a:rPr>
              <a:t>Для проекта нужен ранний инвестор, который понимает consumer/mobile и готов инвестировать в проверку поведенческой гипотезы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182880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9280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5A7BFF"/>
                </a:solidFill>
              </a:rPr>
              <a:t>Main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31343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56078"/>
                </a:solidFill>
              </a:rPr>
              <a:t>angel / micro-VC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70048" y="1783080"/>
            <a:ext cx="182880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89280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3C16B"/>
                </a:solidFill>
              </a:rPr>
              <a:t>Alt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834640" y="231343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56078"/>
                </a:solidFill>
              </a:rPr>
              <a:t>accelerator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81728" y="1783080"/>
            <a:ext cx="182880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89280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</a:rPr>
              <a:t>Ask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0" y="231343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56078"/>
                </a:solidFill>
              </a:rPr>
              <a:t>₽8 млн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93408" y="1783080"/>
            <a:ext cx="182880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89280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C4899"/>
                </a:solidFill>
              </a:rPr>
              <a:t>Goal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0" y="231343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56078"/>
                </a:solidFill>
              </a:rPr>
              <a:t>PMF proof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" y="3246120"/>
            <a:ext cx="10927080" cy="196596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51129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Ключевая формула защиты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84048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56078"/>
                </a:solidFill>
              </a:rPr>
              <a:t>Если AI-персонаж после фразы «хочу начать бегать, но одному скучно» выдаёт микрозадание и кнопку поиска напарника, то пользователь с большей вероятностью совершает первое действие и возвращается за следующей наградой. Именно это и является ядром инвестиционной гипотезы проекта.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11384280" y="146304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A94AA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1209</Words>
  <Application>Microsoft Office PowerPoint</Application>
  <PresentationFormat>Широкоэкранный</PresentationFormat>
  <Paragraphs>205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Практика №26 — профиль инвестора и оффер</dc:title>
  <dc:subject>Защита практического занятия №26</dc:subject>
  <dc:creator>OpenAI</dc:creator>
  <cp:lastModifiedBy>Даниил Козлов</cp:lastModifiedBy>
  <cp:revision>2</cp:revision>
  <dcterms:created xsi:type="dcterms:W3CDTF">2026-05-07T11:24:59Z</dcterms:created>
  <dcterms:modified xsi:type="dcterms:W3CDTF">2026-05-07T11:38:06Z</dcterms:modified>
</cp:coreProperties>
</file>