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180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71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020"/>
          </a:solidFill>
          <a:ln w="12700">
            <a:solidFill>
              <a:srgbClr val="15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5566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7A3C0"/>
                </a:solidFill>
              </a:rPr>
              <a:t>HobbySphere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89720" y="645566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A3C0"/>
                </a:solidFill>
              </a:rPr>
              <a:t>Практика №26 • Стартап в ИТ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82" y="0"/>
            <a:ext cx="1218552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9111F">
              <a:alpha val="98000"/>
            </a:srgbClr>
          </a:solidFill>
          <a:ln w="12700">
            <a:solidFill>
              <a:srgbClr val="0911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640080"/>
            <a:ext cx="1783080" cy="310896"/>
          </a:xfrm>
          <a:prstGeom prst="roundRect">
            <a:avLst>
              <a:gd name="adj" fmla="val 41176"/>
            </a:avLst>
          </a:prstGeom>
          <a:solidFill>
            <a:srgbClr val="1B2450"/>
          </a:solidFill>
          <a:ln w="12700">
            <a:solidFill>
              <a:srgbClr val="1B24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685800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EEFF"/>
                </a:solidFill>
              </a:rPr>
              <a:t>AI + social + gamification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66928" y="107899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HobbySphere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69164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6ECFF"/>
                </a:solidFill>
              </a:rPr>
              <a:t>Превращаем «хочу начать хобби, но лень и скучно»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CFF"/>
                </a:solidFill>
              </a:rPr>
              <a:t>в игровой квест с AI-персонажем и поиском напарника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85216" y="283464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B4CF"/>
                </a:solidFill>
              </a:rPr>
              <a:t>Pre-seed / MVP-концепт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B4CF"/>
                </a:solidFill>
              </a:rPr>
              <a:t>Основной фокус: офисные работники 25–35 и студенты 18–25 в городах-миллионниках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" y="3858768"/>
            <a:ext cx="1508760" cy="1078992"/>
          </a:xfrm>
          <a:prstGeom prst="roundRect">
            <a:avLst>
              <a:gd name="adj" fmla="val 15254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396849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44D6E8"/>
                </a:solidFill>
              </a:rPr>
              <a:t>₽8 млн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8952" y="43891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4CF"/>
                </a:solidFill>
              </a:rPr>
              <a:t>Ask на 9 мес. runway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240280" y="3858768"/>
            <a:ext cx="1508760" cy="1078992"/>
          </a:xfrm>
          <a:prstGeom prst="roundRect">
            <a:avLst>
              <a:gd name="adj" fmla="val 15254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04872" y="396849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C16B"/>
                </a:solidFill>
              </a:rPr>
              <a:t>&gt;35%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404872" y="43891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4CF"/>
                </a:solidFill>
              </a:rPr>
              <a:t>цель activation rate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86200" y="3858768"/>
            <a:ext cx="1508760" cy="1078992"/>
          </a:xfrm>
          <a:prstGeom prst="roundRect">
            <a:avLst>
              <a:gd name="adj" fmla="val 15254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50792" y="396849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&gt;18%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050792" y="43891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4CF"/>
                </a:solidFill>
              </a:rPr>
              <a:t>цель D7 retention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3504" y="523036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DCE7FF"/>
                </a:solidFill>
              </a:rPr>
              <a:t>Ключевая гипотеза: AI-микрозадание + кнопка «Найти напарника рядом» повышают первый completed action и возврат на следующий день.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D9AB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Проблема: желание есть, но первого шага не происходит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B4CF"/>
                </a:solidFill>
              </a:rPr>
              <a:t>Пользователь не покупает дисциплину — он покупает лёгкий старт, эмоцию и компанию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417320"/>
            <a:ext cx="1920240" cy="1188720"/>
          </a:xfrm>
          <a:prstGeom prst="roundRect">
            <a:avLst>
              <a:gd name="adj" fmla="val 13846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5270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44D6E8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94944" y="19476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4CF"/>
                </a:solidFill>
              </a:rPr>
              <a:t>Нет простого «входа» в хобби: старт кажется дорогим и сложным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87752" y="1417320"/>
            <a:ext cx="1920240" cy="1188720"/>
          </a:xfrm>
          <a:prstGeom prst="roundRect">
            <a:avLst>
              <a:gd name="adj" fmla="val 13846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2344" y="15270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C16B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52344" y="19476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4CF"/>
                </a:solidFill>
              </a:rPr>
              <a:t>Нет подотчётности: без внешней структуры всё переносится «на потом»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45152" y="1417320"/>
            <a:ext cx="1920240" cy="1188720"/>
          </a:xfrm>
          <a:prstGeom prst="roundRect">
            <a:avLst>
              <a:gd name="adj" fmla="val 13846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5270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9744" y="19476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4CF"/>
                </a:solidFill>
              </a:rPr>
              <a:t>Нет компании и дофаминового прогресса, чтобы закрепить привычку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67728" y="1261872"/>
            <a:ext cx="4663440" cy="4407408"/>
          </a:xfrm>
          <a:prstGeom prst="roundRect">
            <a:avLst>
              <a:gd name="adj" fmla="val 3734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4813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Сценарий Ивана, 28 лет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921240" y="1444752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1B2450"/>
          </a:solidFill>
          <a:ln w="12700">
            <a:solidFill>
              <a:srgbClr val="1B2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76104" y="1490472"/>
            <a:ext cx="1033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EEFF"/>
                </a:solidFill>
              </a:rPr>
              <a:t>пятница вечером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23760" y="187452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CE7FF"/>
                </a:solidFill>
              </a:rPr>
              <a:t>После работы Иван листает TikTok, вспоминает, что год назад хотел играть на гитаре, но одному скучно и «сейчас не до этого».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26700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EEFF"/>
                </a:solidFill>
              </a:rPr>
              <a:t>Что происходит дальше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23760" y="2926080"/>
            <a:ext cx="39319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CE7FF"/>
                </a:solidFill>
              </a:rPr>
              <a:t>— желание откладывается ещё на недели или месяцы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E7FF"/>
                </a:solidFill>
              </a:rPr>
              <a:t>— появляется чувство вины и нереализованности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E7FF"/>
                </a:solidFill>
              </a:rPr>
              <a:t>— если оборудование всё же куплено, оно часто не используется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E7FF"/>
                </a:solidFill>
              </a:rPr>
              <a:t>— потенциально полезное хобби не превращается в устойчивый ритуал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4709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B4CF"/>
                </a:solidFill>
              </a:rPr>
              <a:t>Итог для рынка: люди не нуждаются в ещё одном трекере привычек. Им нужен мягкий триггер на действие + ощущение, что они не одни.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7498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83A2"/>
                </a:solidFill>
              </a:rPr>
              <a:t>Основание: пользовательский сценарий и проблематика из задания; формулировки рынка — рабочая гипотеза команды.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D9A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Клиент и сегменты: стартуем там, где боль сильнее всего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Приоритет запуска — S2 и S1 в крупных городах, где выше плотность встреч и готовность платить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371600"/>
            <a:ext cx="274320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566928" cy="310896"/>
          </a:xfrm>
          <a:prstGeom prst="roundRect">
            <a:avLst>
              <a:gd name="adj" fmla="val 41176"/>
            </a:avLst>
          </a:prstGeom>
          <a:solidFill>
            <a:srgbClr val="5A7B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527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Студенты и миллениалы-одиночки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56078"/>
                </a:solidFill>
              </a:rPr>
              <a:t>18–25 лет. Хотят новое хобби, но боятся начинать одни. Низкий доход, но высокая чувствительность к эмоциям, ачивкам и статусу.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401568" y="1371600"/>
            <a:ext cx="274320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481328"/>
            <a:ext cx="566928" cy="310896"/>
          </a:xfrm>
          <a:prstGeom prst="roundRect">
            <a:avLst>
              <a:gd name="adj" fmla="val 41176"/>
            </a:avLst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527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11296" y="185623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Офисные работники 25–35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11296" y="219456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56078"/>
                </a:solidFill>
              </a:rPr>
              <a:t>Есть деньги, но нет энергии и силы воли. Ищут лёгкое вовлечение после рутины — без длинного онбординга и без «серьёзного» self-help.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272784" y="1371600"/>
            <a:ext cx="274320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481328"/>
            <a:ext cx="566928" cy="310896"/>
          </a:xfrm>
          <a:prstGeom prst="roundRect">
            <a:avLst>
              <a:gd name="adj" fmla="val 4117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527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185623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Родители в декрете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219456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56078"/>
                </a:solidFill>
              </a:rPr>
              <a:t>Нуждаются в социализации и мягкой структуре. Подходят квесты по рукоделию, чтению и кулинарии с локальными мини-группами.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9144000" y="1371600"/>
            <a:ext cx="251460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53728" y="1481328"/>
            <a:ext cx="566928" cy="310896"/>
          </a:xfrm>
          <a:prstGeom prst="roundRect">
            <a:avLst>
              <a:gd name="adj" fmla="val 41176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1527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253728" y="1856232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Любители соцсетей и ачивок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53728" y="2194560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56078"/>
                </a:solidFill>
              </a:rPr>
              <a:t>Показывают прогресс, коллекционируют бейджи, любят соревнование и редкие награды.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530352" y="3246120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4930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JTBD пользователя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794760"/>
            <a:ext cx="31546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«Помоги начать хобби без давления и больших затрат на старте»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«Дай маленькое действие прямо сейчас, когда сил мало»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«Покажи прогресс и, если нужно, найди человека рядом»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407408" y="3246120"/>
            <a:ext cx="3611880" cy="2331720"/>
          </a:xfrm>
          <a:prstGeom prst="roundRect">
            <a:avLst>
              <a:gd name="adj" fmla="val 7059"/>
            </a:avLst>
          </a:prstGeom>
          <a:solidFill>
            <a:srgbClr val="EAF0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4930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41B7"/>
                </a:solidFill>
              </a:rPr>
              <a:t>Приоритет запуска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17720" y="3767328"/>
            <a:ext cx="2971800" cy="12984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74064"/>
                </a:solidFill>
              </a:rPr>
              <a:t>S2 + S1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74064"/>
                </a:solidFill>
              </a:rPr>
              <a:t>• высокая частота прокрастинации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74064"/>
                </a:solidFill>
              </a:rPr>
              <a:t>• выше потенциал премиума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74064"/>
                </a:solidFill>
              </a:rPr>
              <a:t>• проще набрать плотность комьюнити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74064"/>
                </a:solidFill>
              </a:rPr>
              <a:t>• знакомы с игровыми механиками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229600" y="3246120"/>
            <a:ext cx="342900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0768" y="34930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Ключевой UX-триггер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30768" y="37673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56078"/>
                </a:solidFill>
              </a:rPr>
              <a:t>Вместо выбора категорий пользователь пишет фразу естественным языком: «хочу начать бегать, но одному скучно».</a:t>
            </a:r>
            <a:endParaRPr lang="en-US" sz="1090" dirty="0"/>
          </a:p>
        </p:txBody>
      </p:sp>
      <p:sp>
        <p:nvSpPr>
          <p:cNvPr id="33" name="Text 31"/>
          <p:cNvSpPr/>
          <p:nvPr/>
        </p:nvSpPr>
        <p:spPr>
          <a:xfrm>
            <a:off x="8430768" y="44074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274064"/>
                </a:solidFill>
              </a:rPr>
              <a:t>AI сразу формирует первый микроквест и опцию поиска напарника.</a:t>
            </a:r>
            <a:endParaRPr lang="en-US" sz="1090" dirty="0"/>
          </a:p>
        </p:txBody>
      </p:sp>
      <p:sp>
        <p:nvSpPr>
          <p:cNvPr id="34" name="Text 32"/>
          <p:cNvSpPr/>
          <p:nvPr/>
        </p:nvSpPr>
        <p:spPr>
          <a:xfrm>
            <a:off x="530352" y="6217920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A94AA"/>
                </a:solidFill>
              </a:rPr>
              <a:t>Источник сегментации и приоритета — материалы практики; рыночные выводы и приоритетность — допущение команды.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Решение: AI-персонаж превращает откладываемое хобби в проходной квест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B4CF"/>
                </a:solidFill>
              </a:rPr>
              <a:t>Логика продукта строится вокруг микро-действия, эмоциональной награды и социальной поддержки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59152" cy="2148840"/>
          </a:xfrm>
          <a:prstGeom prst="roundRect">
            <a:avLst>
              <a:gd name="adj" fmla="val 766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01952"/>
            <a:ext cx="292608" cy="292608"/>
          </a:xfrm>
          <a:prstGeom prst="ellipse">
            <a:avLst/>
          </a:prstGeom>
          <a:solidFill>
            <a:srgbClr val="44D6E8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84708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Сообщение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267712"/>
            <a:ext cx="2029968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4DDF2"/>
                </a:solidFill>
              </a:rPr>
              <a:t>Пользователь пишет: «хочу рисовать, но стесняюсь начать»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834640" y="1737360"/>
            <a:ext cx="2359152" cy="2148840"/>
          </a:xfrm>
          <a:prstGeom prst="roundRect">
            <a:avLst>
              <a:gd name="adj" fmla="val 766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1901952"/>
            <a:ext cx="292608" cy="292608"/>
          </a:xfrm>
          <a:prstGeom prst="ellipse">
            <a:avLst/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84708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AI-миссия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9232" y="2267712"/>
            <a:ext cx="2029968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4DDF2"/>
                </a:solidFill>
              </a:rPr>
              <a:t>Персонаж выдаёт задание на 3–5 минут и снимает барьер старта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120640" y="1737360"/>
            <a:ext cx="2359152" cy="2148840"/>
          </a:xfrm>
          <a:prstGeom prst="roundRect">
            <a:avLst>
              <a:gd name="adj" fmla="val 766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85232" y="1901952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184708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Напарник / соло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85232" y="2267712"/>
            <a:ext cx="2029968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4DDF2"/>
                </a:solidFill>
              </a:rPr>
              <a:t>Можно выполнить одному или включить поиск человека рядом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2359152" cy="2148840"/>
          </a:xfrm>
          <a:prstGeom prst="roundRect">
            <a:avLst>
              <a:gd name="adj" fmla="val 766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71232" y="1901952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184708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Визуальный прогресс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71232" y="2267712"/>
            <a:ext cx="2029968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4DDF2"/>
                </a:solidFill>
              </a:rPr>
              <a:t>3D-мир, дом, редкие предметы и совместные ачивки закрепляют возврат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66928" y="4343400"/>
            <a:ext cx="3749040" cy="1353312"/>
          </a:xfrm>
          <a:prstGeom prst="roundRect">
            <a:avLst>
              <a:gd name="adj" fmla="val 12162"/>
            </a:avLst>
          </a:prstGeom>
          <a:solidFill>
            <a:srgbClr val="101C34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354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9CEEFF"/>
                </a:solidFill>
              </a:rPr>
              <a:t>Что уже должно быть в MVP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68096" y="482803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AI-онбординг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генератор микрозаданий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3D шар / дом / ачивки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поиск напарника рядом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базовая модерация и жалобы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4517136" y="4343400"/>
            <a:ext cx="3429000" cy="1353312"/>
          </a:xfrm>
          <a:prstGeom prst="roundRect">
            <a:avLst>
              <a:gd name="adj" fmla="val 12162"/>
            </a:avLst>
          </a:prstGeom>
          <a:solidFill>
            <a:srgbClr val="101C34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53542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7DF3B4"/>
                </a:solidFill>
              </a:rPr>
              <a:t>Антибарьеры UX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4709160" y="481888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DCE7FF"/>
                </a:solidFill>
              </a:rPr>
              <a:t>• действие &lt; 5 минут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DCE7FF"/>
                </a:solidFill>
              </a:rPr>
              <a:t>• не нужен инвентарь в первый день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DCE7FF"/>
                </a:solidFill>
              </a:rPr>
              <a:t>• можно войти в режим «соло-квест»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DCE7FF"/>
                </a:solidFill>
              </a:rPr>
              <a:t>• социальность включается по кнопке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8138160" y="4343400"/>
            <a:ext cx="3520440" cy="1353312"/>
          </a:xfrm>
          <a:prstGeom prst="roundRect">
            <a:avLst>
              <a:gd name="adj" fmla="val 12162"/>
            </a:avLst>
          </a:prstGeom>
          <a:solidFill>
            <a:srgbClr val="101C34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9328" y="453542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9B3FF"/>
                </a:solidFill>
              </a:rPr>
              <a:t>Почему это отличается от трекера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8339328" y="483717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Мы продаём не список задач, а эмоциональный первый шаг и мир, который меняется вместе с человеком.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D9A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Рынок: начинаем с узкого SOM, но продукт горизонтальный по хобби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Подход — снизу вверх: сначала крупные города и два сегмента, затем расширение по интересам и географии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417320"/>
            <a:ext cx="5532120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642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TAM / SAM / SOM (модель команды)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9933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16552" y="199339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20 млн пользователей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2212848"/>
            <a:ext cx="4663440" cy="201168"/>
          </a:xfrm>
          <a:prstGeom prst="roundRect">
            <a:avLst>
              <a:gd name="adj" fmla="val 22727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212848"/>
            <a:ext cx="4663440" cy="201168"/>
          </a:xfrm>
          <a:prstGeom prst="roundRect">
            <a:avLst>
              <a:gd name="adj" fmla="val 22727"/>
            </a:avLst>
          </a:prstGeom>
          <a:solidFill>
            <a:srgbClr val="5A7B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724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16552" y="272491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3.0 млн пользователей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" y="2944368"/>
            <a:ext cx="4663440" cy="201168"/>
          </a:xfrm>
          <a:prstGeom prst="roundRect">
            <a:avLst>
              <a:gd name="adj" fmla="val 22727"/>
            </a:avLst>
          </a:prstGeom>
          <a:solidFill>
            <a:srgbClr val="EAF9F1"/>
          </a:solidFill>
          <a:ln w="12700">
            <a:solidFill>
              <a:srgbClr val="EAF9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944368"/>
            <a:ext cx="1958645" cy="201168"/>
          </a:xfrm>
          <a:prstGeom prst="roundRect">
            <a:avLst>
              <a:gd name="adj" fmla="val 22727"/>
            </a:avLst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56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SOM (3 года)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16552" y="345643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150 тыс. пользователей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" y="3675888"/>
            <a:ext cx="4663440" cy="201168"/>
          </a:xfrm>
          <a:prstGeom prst="roundRect">
            <a:avLst>
              <a:gd name="adj" fmla="val 22727"/>
            </a:avLst>
          </a:prstGeom>
          <a:solidFill>
            <a:srgbClr val="F1EBFF"/>
          </a:solidFill>
          <a:ln w="12700">
            <a:solidFill>
              <a:srgbClr val="F1E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675888"/>
            <a:ext cx="839419" cy="201168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1605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41B7"/>
                </a:solidFill>
              </a:rPr>
              <a:t>Логика расчёта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" y="440740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56078"/>
                </a:solidFill>
              </a:rPr>
              <a:t>TAM: русскоязычные 18–35, интересующиеся новым хобби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556078"/>
                </a:solidFill>
              </a:rPr>
              <a:t>SAM: S1+S2 в городах-миллионниках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556078"/>
                </a:solidFill>
              </a:rPr>
              <a:t>SOM: достижимая база при запуске через mobile + community model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6291072" y="1417320"/>
            <a:ext cx="5367528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166420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Почему сейчас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65392" y="2011680"/>
            <a:ext cx="44805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Пользователи ожидают AI-онбординг вместо сложных форм и категорий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Геймификация доказала способность удерживать поведенческие продукты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Люди ищут «третье место»: мягкое онлайн/офлайн включение в хобби и комьюнити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Горизонтальная модель по интересам создаёт больше potential expansion, чем нишевые приложения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583680" y="4343400"/>
            <a:ext cx="1554480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44531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5A7BFF"/>
                </a:solidFill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48272" y="487375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приоритетных сегмента на старте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0" y="4343400"/>
            <a:ext cx="1554480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44531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C16B"/>
                </a:solidFill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94192" y="487375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основных драйвера: AI, game, social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75520" y="4343400"/>
            <a:ext cx="1554480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40112" y="44531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40112" y="487375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горизонтальный продукт вместо узкой ниши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" y="6217920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A94AA"/>
                </a:solidFill>
              </a:rPr>
              <a:t>Источник/основание: сегменты и market map из задания; численные оценки TAM/SAM/SOM — допущение команды для учебного дека.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Конкурентное поле: сильные продукты есть по частям, но не в одной системе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B4CF"/>
                </a:solidFill>
              </a:rPr>
              <a:t>Главная пустота — AI-цель + игровой мир + поиск напарника по любому хобби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6400800" cy="4526280"/>
          </a:xfrm>
          <a:prstGeom prst="roundRect">
            <a:avLst>
              <a:gd name="adj" fmla="val 3636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0" y="55778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0C5"/>
                </a:solidFill>
              </a:rPr>
              <a:t>Широта хобби →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 rot="16200000">
            <a:off x="731520" y="170078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0C5"/>
                </a:solidFill>
              </a:rPr>
              <a:t>↑ social + game depth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51560" y="5321808"/>
            <a:ext cx="530352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920240"/>
            <a:ext cx="0" cy="3401568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3337560"/>
            <a:ext cx="182880" cy="182880"/>
          </a:xfrm>
          <a:prstGeom prst="ellipse">
            <a:avLst/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3319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7FF"/>
                </a:solidFill>
              </a:rPr>
              <a:t>Habitica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4096512"/>
            <a:ext cx="182880" cy="182880"/>
          </a:xfrm>
          <a:prstGeom prst="ellipse">
            <a:avLst/>
          </a:prstGeom>
          <a:solidFill>
            <a:srgbClr val="44D6E8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40782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7FF"/>
                </a:solidFill>
              </a:rPr>
              <a:t>Fabulous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69748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2679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7FF"/>
                </a:solidFill>
              </a:rPr>
              <a:t>Strava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2423160"/>
            <a:ext cx="182880" cy="18288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7FF"/>
                </a:solidFill>
              </a:rPr>
              <a:t>Duolingo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42062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4187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7FF"/>
                </a:solidFill>
              </a:rPr>
              <a:t>Discord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794760"/>
            <a:ext cx="182880" cy="182880"/>
          </a:xfrm>
          <a:prstGeom prst="ellipse">
            <a:avLst/>
          </a:prstGeom>
          <a:solidFill>
            <a:srgbClr val="97A3C0"/>
          </a:solidFill>
          <a:ln w="12700">
            <a:solidFill>
              <a:srgbClr val="97A3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776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7FF"/>
                </a:solidFill>
              </a:rPr>
              <a:t>Meetup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2331720"/>
            <a:ext cx="182880" cy="182880"/>
          </a:xfrm>
          <a:prstGeom prst="ellipse">
            <a:avLst/>
          </a:prstGeom>
          <a:solidFill>
            <a:srgbClr val="44D6E8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13832" y="23134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HobbySphere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87184" y="1444752"/>
            <a:ext cx="4480560" cy="4526280"/>
          </a:xfrm>
          <a:prstGeom prst="roundRect">
            <a:avLst>
              <a:gd name="adj" fmla="val 3673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16916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Где у конкурентов дыры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24928" y="1993392"/>
            <a:ext cx="384048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— Habitica — интересная RPG-механика, но устаревший UX и нет social matching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— Fabulous — красивый ритуальный продукт, но не даёт компанию по интересам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— Strava и Duolingo — сильная геймификация, но только вертикальные ниши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— Discord/Meetup — сообщества есть, но новичку сложно стартовать без структуры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424928" y="40690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EEFF"/>
                </a:solidFill>
              </a:rPr>
              <a:t>Наша позиция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24928" y="43159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DCE7FF"/>
                </a:solidFill>
              </a:rPr>
              <a:t>Мы объединяем поведенческий триггер, эмоциональный прогресс и социальный слой в одном горизонтальном продукте.</a:t>
            </a:r>
            <a:endParaRPr lang="en-US" sz="1110" dirty="0"/>
          </a:p>
        </p:txBody>
      </p:sp>
      <p:sp>
        <p:nvSpPr>
          <p:cNvPr id="28" name="Text 26"/>
          <p:cNvSpPr/>
          <p:nvPr/>
        </p:nvSpPr>
        <p:spPr>
          <a:xfrm>
            <a:off x="530352" y="6199632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83A2"/>
                </a:solidFill>
              </a:rPr>
              <a:t>Конкурентное поле собрано по материалам практики; позиционирование на карте — аналитическая модель команды.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D9A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Бизнес-модель: freemium в ядре, premium как первый платёжный слой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На старте не усложняем продукт токенами и рекламой — сначала PMF, потом дополнительные revenue streams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417320"/>
            <a:ext cx="3794760" cy="4498848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824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Что бесплатно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AI-старт и базовые микрозадания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1 активный квест на хобби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базовый 3D-мир и ачивки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— ограниченный social matching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49808" y="36576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41B7"/>
                </a:solidFill>
              </a:rPr>
              <a:t>Что в Premium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913632"/>
            <a:ext cx="31089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— кастомные скины и предметы мира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— расширенный AI-коуч и длинные квест-цепочки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— больше социальных сценариев и совместных достижений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— подробная аналитика прогресса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53712" y="1417320"/>
            <a:ext cx="2834640" cy="4498848"/>
          </a:xfrm>
          <a:prstGeom prst="roundRect">
            <a:avLst>
              <a:gd name="adj" fmla="val 5806"/>
            </a:avLst>
          </a:prstGeom>
          <a:solidFill>
            <a:srgbClr val="EAF0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68249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2441B7"/>
                </a:solidFill>
              </a:rPr>
              <a:t>Цена Premium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4773168" y="196596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399 ₽ / месяц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73168" y="248716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Тестовая гипотеза монетизации на MVP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73168" y="2926080"/>
            <a:ext cx="1051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035808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5A7BFF"/>
                </a:solidFill>
              </a:rPr>
              <a:t>4%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34564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target paid conv.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2926080"/>
            <a:ext cx="1051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3035808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C16B"/>
                </a:solidFill>
              </a:rPr>
              <a:t>₽16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08192" y="34564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MRR/registered user at month 12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41605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Следующие слои monetization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73168" y="4434840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56078"/>
                </a:solidFill>
              </a:rPr>
              <a:t>Партнёрства с магазинами хобби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556078"/>
                </a:solidFill>
              </a:rPr>
              <a:t>reward-офферы за прогресс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556078"/>
                </a:solidFill>
              </a:rPr>
              <a:t>рекламные интеграции только после PMF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7607808" y="1417320"/>
            <a:ext cx="4050792" cy="449884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168249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Юнит-логика MVP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7845552" y="20116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Регистрация → 1-й квест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85832" y="201168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35%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45552" y="2231136"/>
            <a:ext cx="3291840" cy="201168"/>
          </a:xfrm>
          <a:prstGeom prst="roundRect">
            <a:avLst>
              <a:gd name="adj" fmla="val 22727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45552" y="2231136"/>
            <a:ext cx="1152144" cy="201168"/>
          </a:xfrm>
          <a:prstGeom prst="roundRect">
            <a:avLst>
              <a:gd name="adj" fmla="val 22727"/>
            </a:avLst>
          </a:prstGeom>
          <a:solidFill>
            <a:srgbClr val="5A7B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27432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1-й квест → D1 return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85832" y="274320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25%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45552" y="2962656"/>
            <a:ext cx="3291840" cy="201168"/>
          </a:xfrm>
          <a:prstGeom prst="roundRect">
            <a:avLst>
              <a:gd name="adj" fmla="val 22727"/>
            </a:avLst>
          </a:prstGeom>
          <a:solidFill>
            <a:srgbClr val="EAF9F1"/>
          </a:solidFill>
          <a:ln w="12700">
            <a:solidFill>
              <a:srgbClr val="EAF9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45552" y="2962656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34747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D7 retention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85832" y="34747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18%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45552" y="3694176"/>
            <a:ext cx="3291840" cy="201168"/>
          </a:xfrm>
          <a:prstGeom prst="roundRect">
            <a:avLst>
              <a:gd name="adj" fmla="val 22727"/>
            </a:avLst>
          </a:prstGeom>
          <a:solidFill>
            <a:srgbClr val="F1EBFF"/>
          </a:solidFill>
          <a:ln w="12700">
            <a:solidFill>
              <a:srgbClr val="F1E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45552" y="3694176"/>
            <a:ext cx="592531" cy="201168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45552" y="4206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Premium conversion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85832" y="420624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4%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45552" y="4425696"/>
            <a:ext cx="3291840" cy="201168"/>
          </a:xfrm>
          <a:prstGeom prst="roundRect">
            <a:avLst>
              <a:gd name="adj" fmla="val 22727"/>
            </a:avLst>
          </a:prstGeom>
          <a:solidFill>
            <a:srgbClr val="FDEBF5"/>
          </a:solidFill>
          <a:ln w="12700">
            <a:solidFill>
              <a:srgbClr val="FDEB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45552" y="4425696"/>
            <a:ext cx="362102" cy="201168"/>
          </a:xfrm>
          <a:prstGeom prst="roundRect">
            <a:avLst>
              <a:gd name="adj" fmla="val 2272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45552" y="49011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56078"/>
                </a:solidFill>
              </a:rPr>
              <a:t>Основание: цели команды для pre-seed теста. На этом этапе важнее поведенческая валидация, чем максимизация ARPU.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30352" y="6217920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A94AA"/>
                </a:solidFill>
              </a:rPr>
              <a:t>Цена и воронка — учебные допущения команды для проверки PMF и инвестиционного сценария.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GTM / Growth: сначала activation loop, затем локальная плотность сообщества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B4CF"/>
                </a:solidFill>
              </a:rPr>
              <a:t>Стратегия роста — не закупка трафика любой ценой, а сценарий, который пользователь захочет повторить и показать другу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611880" cy="1389888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46504"/>
            <a:ext cx="201168" cy="201168"/>
          </a:xfrm>
          <a:prstGeom prst="ellipse">
            <a:avLst/>
          </a:prstGeom>
          <a:solidFill>
            <a:srgbClr val="44D6E8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6733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Фаза 1 • MVP launch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1993392"/>
            <a:ext cx="3319272" cy="877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56078"/>
                </a:solidFill>
              </a:rPr>
              <a:t>каналы: TikTok/Reels, Telegram, студенческие сообщества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56078"/>
                </a:solidFill>
              </a:rPr>
              <a:t>сообщение: «начни хобби за 5 минут»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56078"/>
                </a:solidFill>
              </a:rPr>
              <a:t>цель: activation &gt;35%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611880" cy="1389888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3984" y="1746504"/>
            <a:ext cx="201168" cy="201168"/>
          </a:xfrm>
          <a:prstGeom prst="ellipse">
            <a:avLst/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733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Фаза 2 • Social density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43984" y="1993392"/>
            <a:ext cx="3319272" cy="877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56078"/>
                </a:solidFill>
              </a:rPr>
              <a:t>каналы: рефералка, локальные мини-комьюнити, ambassador model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56078"/>
                </a:solidFill>
              </a:rPr>
              <a:t>механика: совместные бейджи и friend quest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56078"/>
                </a:solidFill>
              </a:rPr>
              <a:t>цель: рост доли «Найти напарника»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028432" y="1600200"/>
            <a:ext cx="3611880" cy="1389888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74650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6733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Фаза 3 • Category expansion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74736" y="1993392"/>
            <a:ext cx="3319272" cy="877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56078"/>
                </a:solidFill>
              </a:rPr>
              <a:t>новые сценарии: бег, рисование, музыка, craft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56078"/>
                </a:solidFill>
              </a:rPr>
              <a:t>партнёрства с магазинами и локальными студиями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556078"/>
                </a:solidFill>
              </a:rPr>
              <a:t>цель: выше retention и premium uptake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66928" y="3429000"/>
            <a:ext cx="5230368" cy="2057400"/>
          </a:xfrm>
          <a:prstGeom prst="roundRect">
            <a:avLst>
              <a:gd name="adj" fmla="val 800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6393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FFFFF"/>
                </a:solidFill>
              </a:rPr>
              <a:t>Активационная петля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9B4CF"/>
                </a:solidFill>
              </a:rPr>
              <a:t>Реклама / UGC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1874520" y="406908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9B4CF"/>
                </a:solidFill>
              </a:rPr>
              <a:t>AI-микроквест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3291840" y="406908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9B4CF"/>
                </a:solidFill>
              </a:rPr>
              <a:t>Выполнил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4370832" y="4069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9B4CF"/>
                </a:solidFill>
              </a:rPr>
              <a:t>Поделился / нашёл друга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68680" y="44348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E3559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44348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83E2C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38728" y="44348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34225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1456" y="44348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4A214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4599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A0C6"/>
                </a:solidFill>
              </a:rPr>
              <a:t>→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035808" y="4599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A0C6"/>
                </a:solidFill>
              </a:rPr>
              <a:t>→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315968" y="4599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A0C6"/>
                </a:solidFill>
              </a:rPr>
              <a:t>→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053328" y="342900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36393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FFFFF"/>
                </a:solidFill>
              </a:rPr>
              <a:t>Эксперименты роста на первые 90 дней</a:t>
            </a:r>
            <a:endParaRPr lang="en-US" sz="1380" dirty="0"/>
          </a:p>
        </p:txBody>
      </p:sp>
      <p:sp>
        <p:nvSpPr>
          <p:cNvPr id="31" name="Text 29"/>
          <p:cNvSpPr/>
          <p:nvPr/>
        </p:nvSpPr>
        <p:spPr>
          <a:xfrm>
            <a:off x="6291072" y="3959352"/>
            <a:ext cx="466344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— UGC-креативы «хобби за 5 минут» против «не начинай один»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— A/B тест: соло-квест по умолчанию vs. social CTA на первом экране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— реферальный бонус за совместную первую ачивку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— локальные ambassador-чаты по 3–4 категориям хобби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D9A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Traction / Validation: pre-seed здесь = план быстрой верификации ключевых рисков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Мы честно находимся до product-market fit, поэтому предлагаем инвестору прозрачную систему проверяемых гипотез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417320"/>
            <a:ext cx="1691640" cy="1024128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527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5A7BFF"/>
                </a:solidFill>
              </a:rPr>
              <a:t>&gt;35%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94944" y="19476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Activation rate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59152" y="1417320"/>
            <a:ext cx="1691640" cy="1024128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23744" y="1527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C16B"/>
                </a:solidFill>
              </a:rPr>
              <a:t>&gt;18%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23744" y="19476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D7 retention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87952" y="1417320"/>
            <a:ext cx="1691640" cy="1024128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1527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&gt;20%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52544" y="19476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доля «Найти напарника»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16752" y="1417320"/>
            <a:ext cx="1691640" cy="1024128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527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C4899"/>
                </a:solidFill>
              </a:rPr>
              <a:t>&gt;8%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81344" y="19476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friend quest completion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45552" y="1417320"/>
            <a:ext cx="1691640" cy="1024128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0144" y="1527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B942"/>
                </a:solidFill>
              </a:rPr>
              <a:t>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10144" y="19476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premium conversion target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" y="2743200"/>
            <a:ext cx="5303520" cy="292608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9992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Какие риски валидируем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310128"/>
            <a:ext cx="44805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56078"/>
                </a:solidFill>
              </a:rPr>
              <a:t>— Рынок: людям действительно нужен «мягкий старт», а не просто список привычек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56078"/>
                </a:solidFill>
              </a:rPr>
              <a:t>— Продукт: AI-микрозадание снижает трение до первого выполненного действия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56078"/>
                </a:solidFill>
              </a:rPr>
              <a:t>— Social: поиск напарника повышает вовлечение, а не создаёт лишнее трение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56078"/>
                </a:solidFill>
              </a:rPr>
              <a:t>— Монетизация: пользователи готовы платить за скины, квесты и расширенный AI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6089904" y="29992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Milestones на 6 месяцев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2743200"/>
            <a:ext cx="5806440" cy="292608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3273552"/>
            <a:ext cx="4983480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56078"/>
                </a:solidFill>
              </a:rPr>
              <a:t>M1–M2  •  AI-онбординг + 4 категории хобби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56078"/>
                </a:solidFill>
              </a:rPr>
              <a:t>M3     •  закрытая beta и первые 1 500 регистраций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56078"/>
                </a:solidFill>
              </a:rPr>
              <a:t>M4     •  social matching в 2 городах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56078"/>
                </a:solidFill>
              </a:rPr>
              <a:t>M5     •  публичный запуск и первые 5 000 регистраций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56078"/>
                </a:solidFill>
              </a:rPr>
              <a:t>M6     •  достижение целевых activation/D7 и проверка premium paywall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530352" y="6217920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A94AA"/>
                </a:solidFill>
              </a:rPr>
              <a:t>Все метрики и milestone-план — целевые KPI команды для pre-seed теста.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Финансовая модель на 18 месяцев: инвестиция покупает доказательство repeatable usage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B4CF"/>
                </a:solidFill>
              </a:rPr>
              <a:t>В pre-seed кейсе важны не «идеальные доходы», а управляемый runway и предсказуемое снижение продуктового риска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463040"/>
            <a:ext cx="5486400" cy="4434840"/>
          </a:xfrm>
          <a:prstGeom prst="roundRect">
            <a:avLst>
              <a:gd name="adj" fmla="val 3711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190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План по метрикам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4892040"/>
            <a:ext cx="4663440" cy="0"/>
          </a:xfrm>
          <a:prstGeom prst="line">
            <a:avLst/>
          </a:prstGeom>
          <a:noFill/>
          <a:ln w="12700">
            <a:solidFill>
              <a:srgbClr val="4251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31720"/>
            <a:ext cx="0" cy="2560320"/>
          </a:xfrm>
          <a:prstGeom prst="line">
            <a:avLst/>
          </a:prstGeom>
          <a:noFill/>
          <a:ln w="12700">
            <a:solidFill>
              <a:srgbClr val="4251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9651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9B4CF"/>
                </a:solidFill>
              </a:rPr>
              <a:t>M3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920240" y="49651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9B4CF"/>
                </a:solidFill>
              </a:rPr>
              <a:t>M6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880360" y="49651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9B4CF"/>
                </a:solidFill>
              </a:rPr>
              <a:t>M9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840480" y="49651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9B4CF"/>
                </a:solidFill>
              </a:rPr>
              <a:t>M12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800600" y="496519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9B4CF"/>
                </a:solidFill>
              </a:rPr>
              <a:t>M18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033272" y="4844034"/>
            <a:ext cx="201168" cy="48006"/>
          </a:xfrm>
          <a:prstGeom prst="rect">
            <a:avLst/>
          </a:prstGeom>
          <a:solidFill>
            <a:srgbClr val="44D6E8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4732020"/>
            <a:ext cx="201168" cy="160020"/>
          </a:xfrm>
          <a:prstGeom prst="rect">
            <a:avLst/>
          </a:prstGeom>
          <a:solidFill>
            <a:srgbClr val="44D6E8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8648" y="4507992"/>
            <a:ext cx="201168" cy="384048"/>
          </a:xfrm>
          <a:prstGeom prst="rect">
            <a:avLst/>
          </a:prstGeom>
          <a:solidFill>
            <a:srgbClr val="44D6E8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31336" y="4091940"/>
            <a:ext cx="201168" cy="800100"/>
          </a:xfrm>
          <a:prstGeom prst="rect">
            <a:avLst/>
          </a:prstGeom>
          <a:solidFill>
            <a:srgbClr val="44D6E8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2971800"/>
            <a:ext cx="201168" cy="1920240"/>
          </a:xfrm>
          <a:prstGeom prst="rect">
            <a:avLst/>
          </a:prstGeom>
          <a:solidFill>
            <a:srgbClr val="44D6E8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4852035"/>
            <a:ext cx="201168" cy="4000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12848" y="4748022"/>
            <a:ext cx="201168" cy="14401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45536" y="4572000"/>
            <a:ext cx="201168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78224" y="4171950"/>
            <a:ext cx="201168" cy="72009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971800"/>
            <a:ext cx="201168" cy="1920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7048" y="4892040"/>
            <a:ext cx="201168" cy="0"/>
          </a:xfrm>
          <a:prstGeom prst="rect">
            <a:avLst/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59736" y="4758397"/>
            <a:ext cx="201168" cy="133643"/>
          </a:xfrm>
          <a:prstGeom prst="rect">
            <a:avLst/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2424" y="4571297"/>
            <a:ext cx="201168" cy="320743"/>
          </a:xfrm>
          <a:prstGeom prst="rect">
            <a:avLst/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25112" y="4464382"/>
            <a:ext cx="201168" cy="427658"/>
          </a:xfrm>
          <a:prstGeom prst="rect">
            <a:avLst/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7800" y="3154680"/>
            <a:ext cx="201168" cy="1737360"/>
          </a:xfrm>
          <a:prstGeom prst="rect">
            <a:avLst/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2303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7FF"/>
                </a:solidFill>
              </a:rPr>
              <a:t>■ Регистрации, тыс.   ■ MAU, тыс.   ■ MRR, млн ₽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263640" y="1463040"/>
            <a:ext cx="5394960" cy="1920240"/>
          </a:xfrm>
          <a:prstGeom prst="roundRect">
            <a:avLst>
              <a:gd name="adj" fmla="val 8571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17190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Runway и burn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0528" y="2029968"/>
            <a:ext cx="3291840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DCE7FF"/>
                </a:solidFill>
              </a:rPr>
              <a:t>• Ask: 8 млн ₽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DCE7FF"/>
                </a:solidFill>
              </a:rPr>
              <a:t>• runway: ~9 месяцев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DCE7FF"/>
                </a:solidFill>
              </a:rPr>
              <a:t>• средний burn: 0.85–0.9 млн ₽ / мес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DCE7FF"/>
                </a:solidFill>
              </a:rPr>
              <a:t>• breakeven не цель pre-seed этапа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263640" y="3611880"/>
            <a:ext cx="5394960" cy="2286000"/>
          </a:xfrm>
          <a:prstGeom prst="roundRect">
            <a:avLst>
              <a:gd name="adj" fmla="val 720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38587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9CEEFF"/>
                </a:solidFill>
              </a:rPr>
              <a:t>Что должно измениться к следующему раунду</a:t>
            </a:r>
            <a:endParaRPr lang="en-US" sz="1330" dirty="0"/>
          </a:p>
        </p:txBody>
      </p:sp>
      <p:sp>
        <p:nvSpPr>
          <p:cNvPr id="34" name="Text 32"/>
          <p:cNvSpPr/>
          <p:nvPr/>
        </p:nvSpPr>
        <p:spPr>
          <a:xfrm>
            <a:off x="6510528" y="4169664"/>
            <a:ext cx="4389120" cy="12070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• подтверждённый activation loop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• retention выше рынка трекеров на ранней стадии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• понятная экономика paid layer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• 2–3 рабочие категории хобби и social density в городах запуска</a:t>
            </a:r>
            <a:endParaRPr lang="en-US" sz="1060" dirty="0"/>
          </a:p>
        </p:txBody>
      </p:sp>
      <p:sp>
        <p:nvSpPr>
          <p:cNvPr id="35" name="Text 33"/>
          <p:cNvSpPr/>
          <p:nvPr/>
        </p:nvSpPr>
        <p:spPr>
          <a:xfrm>
            <a:off x="530352" y="6217920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7783A2"/>
                </a:solidFill>
              </a:rPr>
              <a:t>Финансовая модель — учебное допущение команды: сценарий запуска MVP и проверки repeatable usage на 18 месяцев.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D9A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Команда: для pre-seed важна комбинация product, mobile, AI и community growth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Ниже — целевая конфигурация core team для достижения MVP milestones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633472" cy="35204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1874520"/>
            <a:ext cx="868680" cy="868680"/>
          </a:xfrm>
          <a:prstGeom prst="ellipse">
            <a:avLst/>
          </a:prstGeom>
          <a:solidFill>
            <a:srgbClr val="5A7B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926080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Product / CEO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3364992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56078"/>
                </a:solidFill>
              </a:rPr>
              <a:t>видение, customer discovery, метрики, fundraising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1005840" y="4572000"/>
            <a:ext cx="1737360" cy="310896"/>
          </a:xfrm>
          <a:prstGeom prst="roundRect">
            <a:avLst>
              <a:gd name="adj" fmla="val 41176"/>
            </a:avLst>
          </a:prstGeom>
          <a:solidFill>
            <a:srgbClr val="5A7B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461772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must have now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47288" y="1600200"/>
            <a:ext cx="2633472" cy="35204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874520"/>
            <a:ext cx="868680" cy="868680"/>
          </a:xfrm>
          <a:prstGeom prst="ellipse">
            <a:avLst/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926080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Mobile / Full-stack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0168" y="3364992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56078"/>
                </a:solidFill>
              </a:rPr>
              <a:t>приложение, backend, платежи, геопоиск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886200" y="4572000"/>
            <a:ext cx="1737360" cy="310896"/>
          </a:xfrm>
          <a:prstGeom prst="roundRect">
            <a:avLst>
              <a:gd name="adj" fmla="val 41176"/>
            </a:avLst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1064" y="461772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must have now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27648" y="1600200"/>
            <a:ext cx="2633472" cy="35204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6328" y="1874520"/>
            <a:ext cx="868680" cy="8686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926080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AI /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3364992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56078"/>
                </a:solidFill>
              </a:rPr>
              <a:t>персонаж, генератор квестов, event-аналитика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766560" y="4572000"/>
            <a:ext cx="1737360" cy="310896"/>
          </a:xfrm>
          <a:prstGeom prst="roundRect">
            <a:avLst>
              <a:gd name="adj" fmla="val 4117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461772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hire by milestone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208008" y="1600200"/>
            <a:ext cx="2633472" cy="35204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76688" y="1874520"/>
            <a:ext cx="868680" cy="8686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54312" y="2926080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Growth / Community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90888" y="3364992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56078"/>
                </a:solidFill>
              </a:rPr>
              <a:t>UGC, рефералка, ambassadors, модерация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646920" y="4572000"/>
            <a:ext cx="1737360" cy="310896"/>
          </a:xfrm>
          <a:prstGeom prst="roundRect">
            <a:avLst>
              <a:gd name="adj" fmla="val 41176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01784" y="461772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hire by milestone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5532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41B7"/>
                </a:solidFill>
              </a:rPr>
              <a:t>Важно для инвестора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87168" y="54864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На этой стадии инвестируется не только идея, но и способность команды быстро и честно валидировать риски: activation, social demand, retention, monetization.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0352" y="6217920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A94AA"/>
                </a:solidFill>
              </a:rPr>
              <a:t>Слайд отражает ролевую конфигурацию команды MVP; персональный состав может быть дополнен позже.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Ask: 8 млн ₽ на 9 месяцев, чтобы доказать, что продукт не просто вдохновляет, а меняет поведение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B4CF"/>
                </a:solidFill>
              </a:rPr>
              <a:t>Инвестору предлагается прозрачный pre-seed пакет с измеримыми milestones и понятной логикой use of funds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1143000"/>
          </a:xfrm>
          <a:prstGeom prst="roundRect">
            <a:avLst>
              <a:gd name="adj" fmla="val 1440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642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44D6E8"/>
                </a:solidFill>
              </a:rPr>
              <a:t>₽8 млн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0848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4CF"/>
                </a:solidFill>
              </a:rPr>
              <a:t>объём привлечения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554480"/>
            <a:ext cx="1828800" cy="1143000"/>
          </a:xfrm>
          <a:prstGeom prst="roundRect">
            <a:avLst>
              <a:gd name="adj" fmla="val 1440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16642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C16B"/>
                </a:solidFill>
              </a:rPr>
              <a:t>9 мес.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24912" y="20848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4CF"/>
                </a:solidFill>
              </a:rPr>
              <a:t>планируемый runway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1828800" cy="1143000"/>
          </a:xfrm>
          <a:prstGeom prst="roundRect">
            <a:avLst>
              <a:gd name="adj" fmla="val 1440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6642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6 мес.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36592" y="20848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4CF"/>
                </a:solidFill>
              </a:rPr>
              <a:t>до первых investor-grade milestones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0" y="1554480"/>
            <a:ext cx="1828800" cy="1143000"/>
          </a:xfrm>
          <a:prstGeom prst="roundRect">
            <a:avLst>
              <a:gd name="adj" fmla="val 14400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6642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C4899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48272" y="20848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9B4CF"/>
                </a:solidFill>
              </a:rPr>
              <a:t>категории хобби в MVP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394960" cy="2514600"/>
          </a:xfrm>
          <a:prstGeom prst="roundRect">
            <a:avLst>
              <a:gd name="adj" fmla="val 6545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3101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36393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C0D8"/>
                </a:solidFill>
              </a:rPr>
              <a:t>Продукт и mobile dev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15384" y="363931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35%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6384" y="3858768"/>
            <a:ext cx="4480560" cy="164592"/>
          </a:xfrm>
          <a:prstGeom prst="roundRect">
            <a:avLst>
              <a:gd name="adj" fmla="val 27778"/>
            </a:avLst>
          </a:prstGeom>
          <a:solidFill>
            <a:srgbClr val="18233E"/>
          </a:solidFill>
          <a:ln w="12700">
            <a:solidFill>
              <a:srgbClr val="1823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3858768"/>
            <a:ext cx="1568196" cy="164592"/>
          </a:xfrm>
          <a:prstGeom prst="roundRect">
            <a:avLst>
              <a:gd name="adj" fmla="val 27778"/>
            </a:avLst>
          </a:prstGeom>
          <a:solidFill>
            <a:srgbClr val="44D6E8"/>
          </a:solidFill>
          <a:ln w="12700">
            <a:solidFill>
              <a:srgbClr val="44D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1422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C0D8"/>
                </a:solidFill>
              </a:rPr>
              <a:t>Growth и user acquisition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15384" y="414223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25%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" y="4361688"/>
            <a:ext cx="4480560" cy="164592"/>
          </a:xfrm>
          <a:prstGeom prst="roundRect">
            <a:avLst>
              <a:gd name="adj" fmla="val 27778"/>
            </a:avLst>
          </a:prstGeom>
          <a:solidFill>
            <a:srgbClr val="18233E"/>
          </a:solidFill>
          <a:ln w="12700">
            <a:solidFill>
              <a:srgbClr val="1823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4361688"/>
            <a:ext cx="1120140" cy="164592"/>
          </a:xfrm>
          <a:prstGeom prst="roundRect">
            <a:avLst>
              <a:gd name="adj" fmla="val 27778"/>
            </a:avLst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6451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C0D8"/>
                </a:solidFill>
              </a:rPr>
              <a:t>Комьюнити и модерация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15384" y="464515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10%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6384" y="4864608"/>
            <a:ext cx="4480560" cy="164592"/>
          </a:xfrm>
          <a:prstGeom prst="roundRect">
            <a:avLst>
              <a:gd name="adj" fmla="val 27778"/>
            </a:avLst>
          </a:prstGeom>
          <a:solidFill>
            <a:srgbClr val="18233E"/>
          </a:solidFill>
          <a:ln w="12700">
            <a:solidFill>
              <a:srgbClr val="1823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4864608"/>
            <a:ext cx="448056" cy="164592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514807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C0D8"/>
                </a:solidFill>
              </a:rPr>
              <a:t>Data/analytics + ops + reserve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15384" y="514807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30%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6384" y="5367528"/>
            <a:ext cx="4480560" cy="164592"/>
          </a:xfrm>
          <a:prstGeom prst="roundRect">
            <a:avLst>
              <a:gd name="adj" fmla="val 27778"/>
            </a:avLst>
          </a:prstGeom>
          <a:solidFill>
            <a:srgbClr val="18233E"/>
          </a:solidFill>
          <a:ln w="12700">
            <a:solidFill>
              <a:srgbClr val="18233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5367528"/>
            <a:ext cx="1344168" cy="164592"/>
          </a:xfrm>
          <a:prstGeom prst="roundRect">
            <a:avLst>
              <a:gd name="adj" fmla="val 27778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3063240"/>
            <a:ext cx="5440680" cy="2514600"/>
          </a:xfrm>
          <a:prstGeom prst="roundRect">
            <a:avLst>
              <a:gd name="adj" fmla="val 6545"/>
            </a:avLst>
          </a:prstGeom>
          <a:solidFill>
            <a:srgbClr val="11182D"/>
          </a:solidFill>
          <a:ln w="12700">
            <a:solidFill>
              <a:srgbClr val="1B25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33101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Milestones для инвестора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73952" y="3657600"/>
            <a:ext cx="448056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DCE7FF"/>
                </a:solidFill>
              </a:rPr>
              <a:t>1) MVP и AI-онбординг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DCE7FF"/>
                </a:solidFill>
              </a:rPr>
              <a:t>2) 5 000+ регистраций и activation &gt;35%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DCE7FF"/>
                </a:solidFill>
              </a:rPr>
              <a:t>3) D7 retention &gt;18%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DCE7FF"/>
                </a:solidFill>
              </a:rPr>
              <a:t>4) доля social intent &gt;20%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DCE7FF"/>
                </a:solidFill>
              </a:rPr>
              <a:t>5) первая проверка premium conversion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DCE7FF"/>
                </a:solidFill>
              </a:rPr>
              <a:t>6) база для следующего raise / акселератора</a:t>
            </a:r>
            <a:endParaRPr lang="en-US" sz="1090" dirty="0"/>
          </a:p>
        </p:txBody>
      </p:sp>
      <p:sp>
        <p:nvSpPr>
          <p:cNvPr id="37" name="Text 35"/>
          <p:cNvSpPr/>
          <p:nvPr/>
        </p:nvSpPr>
        <p:spPr>
          <a:xfrm>
            <a:off x="566928" y="58247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CEEFF"/>
                </a:solidFill>
              </a:rPr>
              <a:t>Почему сейчас инвестору стоит зайти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788920" y="57881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CE7FF"/>
                </a:solidFill>
              </a:rPr>
              <a:t>Потому что на рынке есть сильные вертикальные продукты, но мало горизонтальных social-gamified решений, которые снижают барьер старта для любого хобби. Мы идём не за «ещё одним трекером», а за новой формой вовлечения.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D9A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1898</Words>
  <Application>Microsoft Office PowerPoint</Application>
  <PresentationFormat>Широкоэкранный</PresentationFormat>
  <Paragraphs>300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HobbySphere — инвестиционный дек</dc:title>
  <dc:subject>Инвестиционный дек проекта HobbySphere</dc:subject>
  <dc:creator>OpenAI</dc:creator>
  <cp:lastModifiedBy>Даниил Козлов</cp:lastModifiedBy>
  <cp:revision>3</cp:revision>
  <dcterms:created xsi:type="dcterms:W3CDTF">2026-05-07T11:24:59Z</dcterms:created>
  <dcterms:modified xsi:type="dcterms:W3CDTF">2026-05-07T11:39:49Z</dcterms:modified>
</cp:coreProperties>
</file>