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Host Grotesk Medium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96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36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-2-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-2-3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-2-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-2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-2-3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-2-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-4-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-4-3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-4-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13" Type="http://schemas.openxmlformats.org/officeDocument/2006/relationships/image" Target="../media/image6.png"/><Relationship Id="rId3" Type="http://schemas.openxmlformats.org/officeDocument/2006/relationships/image" Target="../media/image3.pn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-10-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-10-3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806529"/>
            <a:ext cx="13073063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Одинокие в толпе: почему мы не реализуем свои желания?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8669" y="2633663"/>
            <a:ext cx="1307306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 городских жителей есть разрыв между «хочу попробовать» и «делаю». Три главных барьера мешают превратить мечты в реальность: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8669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97" y="3770233"/>
            <a:ext cx="667464" cy="6674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92292" y="3953708"/>
            <a:ext cx="300276" cy="3002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8697" y="4655939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Социальный страх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08697" y="5134451"/>
            <a:ext cx="3752136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Идти одному страшно и скучно. Нет поддержки на старте нового увлечения.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09103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132" y="3770233"/>
            <a:ext cx="667464" cy="66746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622727" y="3953708"/>
            <a:ext cx="300276" cy="3002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39132" y="4655939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Прокрастинация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5439132" y="5134451"/>
            <a:ext cx="375213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Начну со следующего месяца. И так каждый месяц, год за годом.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39538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9567" y="3770233"/>
            <a:ext cx="667464" cy="66746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53161" y="3953708"/>
            <a:ext cx="300276" cy="30027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69567" y="4655939"/>
            <a:ext cx="321778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Информационный шум</a:t>
            </a:r>
            <a:endParaRPr lang="en-US" sz="2150" dirty="0"/>
          </a:p>
        </p:txBody>
      </p:sp>
      <p:sp>
        <p:nvSpPr>
          <p:cNvPr id="18" name="Text 10"/>
          <p:cNvSpPr/>
          <p:nvPr/>
        </p:nvSpPr>
        <p:spPr>
          <a:xfrm>
            <a:off x="9869567" y="5134451"/>
            <a:ext cx="3752136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Где искать таких же новичков? В Telegram-чатах хаос, в соцсетях — спам.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1112401" y="6847046"/>
            <a:ext cx="1273933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67% горожан хотели бы заняться новым хобби, но откладывают из-за отсутствия компании — исследование 2024 года</a:t>
            </a:r>
            <a:endParaRPr lang="en-US" sz="1750" dirty="0"/>
          </a:p>
        </p:txBody>
      </p:sp>
      <p:sp>
        <p:nvSpPr>
          <p:cNvPr id="20" name="Shape 12"/>
          <p:cNvSpPr/>
          <p:nvPr/>
        </p:nvSpPr>
        <p:spPr>
          <a:xfrm>
            <a:off x="778669" y="6601539"/>
            <a:ext cx="30480" cy="821531"/>
          </a:xfrm>
          <a:prstGeom prst="rect">
            <a:avLst/>
          </a:prstGeom>
          <a:solidFill>
            <a:srgbClr val="95CCDA"/>
          </a:solidFill>
          <a:ln/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46580" y="7655361"/>
            <a:ext cx="1783820" cy="47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1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201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Hobby Worlds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69130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Мобильное приложение для поиска компании и геймификации хобби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806529"/>
            <a:ext cx="13073063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Одинокие в толпе: почему мы не реализуем свои желания?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8669" y="2633663"/>
            <a:ext cx="1307306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 городских жителей есть разрыв между «хочу попробовать» и «делаю». Три главных барьера мешают превратить мечты в реальность: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8669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97" y="3770233"/>
            <a:ext cx="667464" cy="6674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92292" y="3953708"/>
            <a:ext cx="300276" cy="3002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8697" y="4655939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Социальный страх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08697" y="5134451"/>
            <a:ext cx="3752136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Идти одному страшно и скучно. Нет поддержки на старте нового увлечения.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09103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132" y="3770233"/>
            <a:ext cx="667464" cy="66746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622727" y="3953708"/>
            <a:ext cx="300276" cy="3002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39132" y="4655939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Прокрастинация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5439132" y="5134451"/>
            <a:ext cx="375213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Начну со следующего месяца. И так каждый месяц, год за годом.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39538" y="3540204"/>
            <a:ext cx="4212193" cy="2815828"/>
          </a:xfrm>
          <a:prstGeom prst="roundRect">
            <a:avLst>
              <a:gd name="adj" fmla="val 33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9567" y="3770233"/>
            <a:ext cx="667464" cy="66746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53161" y="3953708"/>
            <a:ext cx="300276" cy="30027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69567" y="4655939"/>
            <a:ext cx="321778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Информационный шум</a:t>
            </a:r>
            <a:endParaRPr lang="en-US" sz="2150" dirty="0"/>
          </a:p>
        </p:txBody>
      </p:sp>
      <p:sp>
        <p:nvSpPr>
          <p:cNvPr id="18" name="Text 10"/>
          <p:cNvSpPr/>
          <p:nvPr/>
        </p:nvSpPr>
        <p:spPr>
          <a:xfrm>
            <a:off x="9869567" y="5134451"/>
            <a:ext cx="3752136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Где искать таких же новичков? В Telegram-чатах хаос, в соцсетях — спам.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1112401" y="6847046"/>
            <a:ext cx="1273933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67% горожан хотели бы заняться новым хобби, но откладывают из-за отсутствия компании — исследование 2024 года</a:t>
            </a:r>
            <a:endParaRPr lang="en-US" sz="1750" dirty="0"/>
          </a:p>
        </p:txBody>
      </p:sp>
      <p:sp>
        <p:nvSpPr>
          <p:cNvPr id="20" name="Shape 12"/>
          <p:cNvSpPr/>
          <p:nvPr/>
        </p:nvSpPr>
        <p:spPr>
          <a:xfrm>
            <a:off x="778669" y="6601539"/>
            <a:ext cx="30480" cy="821531"/>
          </a:xfrm>
          <a:prstGeom prst="rect">
            <a:avLst/>
          </a:prstGeom>
          <a:solidFill>
            <a:srgbClr val="95CCDA"/>
          </a:solidFill>
          <a:ln/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46580" y="7655361"/>
            <a:ext cx="1783820" cy="470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76" y="481489"/>
            <a:ext cx="6903601" cy="52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Цена нереализованных желаний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76" y="1340763"/>
            <a:ext cx="7439620" cy="495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41048" y="3409712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Последствия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341048" y="3799761"/>
            <a:ext cx="3815596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Когда желания годами остаются желаниями, это влияет на всё: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481376" y="6582132"/>
            <a:ext cx="3805237" cy="1165979"/>
          </a:xfrm>
          <a:prstGeom prst="roundRect">
            <a:avLst>
              <a:gd name="adj" fmla="val 941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16" y="6582132"/>
            <a:ext cx="91440" cy="1165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1884" y="6774061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Качество жизни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41884" y="7113746"/>
            <a:ext cx="335280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Чувство, что жизнь проходит мимо. Скука и выгорание от рутины.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12581" y="6582132"/>
            <a:ext cx="3805237" cy="1165979"/>
          </a:xfrm>
          <a:prstGeom prst="roundRect">
            <a:avLst>
              <a:gd name="adj" fmla="val 941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721" y="6582132"/>
            <a:ext cx="91440" cy="11659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73090" y="6774061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Социализация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5673090" y="7113746"/>
            <a:ext cx="335280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Отсутствие новых знакомств. Сужение круга общения до коллег.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343787" y="6582132"/>
            <a:ext cx="3805237" cy="1165979"/>
          </a:xfrm>
          <a:prstGeom prst="roundRect">
            <a:avLst>
              <a:gd name="adj" fmla="val 941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927" y="6582132"/>
            <a:ext cx="91440" cy="11659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4296" y="6774061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Время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604296" y="7113746"/>
            <a:ext cx="335280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Бесконечное откладывание. Часы в соцсетях без пользы.</a:t>
            </a:r>
            <a:endParaRPr lang="en-US" sz="13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268"/>
            <a:ext cx="1306163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Hobby Worlds — превращаем «хотелки» в квесты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2459712"/>
            <a:ext cx="1306163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Первое приложение, объединяющее целеполагание, социализацию и геймификацию в единую игровую систему.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779865" y="4753094"/>
            <a:ext cx="2801422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Целеполагание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4384" y="5236012"/>
            <a:ext cx="3796903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хочешь попробовать — от рисования до скалолазания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438" y="3042880"/>
            <a:ext cx="4571524" cy="457152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547420" y="5160943"/>
            <a:ext cx="335280" cy="335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075" y="3526155"/>
            <a:ext cx="2801422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Социализация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075" y="4009073"/>
            <a:ext cx="3908941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 кем это делать — находишь напарников рядом за 3 клика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438" y="3042880"/>
            <a:ext cx="4571524" cy="457152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47481" y="3775174"/>
            <a:ext cx="335280" cy="3352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075" y="5979914"/>
            <a:ext cx="2801422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075" y="6462832"/>
            <a:ext cx="3908941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Почему это весело — квесты, ачивки, уникальный мир-шар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438" y="3042880"/>
            <a:ext cx="4571524" cy="4571524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947481" y="6546592"/>
            <a:ext cx="335280" cy="33528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2046" y="640794"/>
            <a:ext cx="5522119" cy="4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 шагов к новому увлечению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082046" y="1317546"/>
            <a:ext cx="10466308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Пользовательский путь от идеи до совместного квеста: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33732" y="1848922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2046" y="1749266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195751" y="1862971"/>
            <a:ext cx="227528" cy="227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38425" y="1773079"/>
            <a:ext cx="1896070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Чат с персонажем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638425" y="2070973"/>
            <a:ext cx="9909929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Напиши, что давно хочешь сделать — персонаж подсказывает «Мир»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61260" y="2860358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09574" y="2760702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423279" y="2874407"/>
            <a:ext cx="227528" cy="2275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5953" y="2784515"/>
            <a:ext cx="2027634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Определение «Мира»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865953" y="3082409"/>
            <a:ext cx="9682401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Стилизация интерфейса под твой интерес — аниме, космос, природа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688788" y="3871793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37103" y="3772138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650808" y="3885843"/>
            <a:ext cx="227528" cy="2275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93482" y="3795951"/>
            <a:ext cx="1896070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«Мир-Шар»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093482" y="4093845"/>
            <a:ext cx="9454872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Главное меню, твоя деревня навыков — визуализация прогресса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916317" y="4883229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64631" y="4783574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2878336" y="4897279"/>
            <a:ext cx="227528" cy="2275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21010" y="4807387"/>
            <a:ext cx="1896070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Микрозадание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3321010" y="5105281"/>
            <a:ext cx="9227344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Найди 5 референсов, купи материалы, выполни задачу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688788" y="5894665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537103" y="5795010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50808" y="5908715"/>
            <a:ext cx="227528" cy="2275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3482" y="5818823"/>
            <a:ext cx="1896070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Поиск напарника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093482" y="6116717"/>
            <a:ext cx="9454872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Хочешь с кем-то? Приложение находит людей с похожей целью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2461260" y="6906101"/>
            <a:ext cx="151686" cy="682466"/>
          </a:xfrm>
          <a:prstGeom prst="roundRect">
            <a:avLst>
              <a:gd name="adj" fmla="val 420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309574" y="6806446"/>
            <a:ext cx="455057" cy="455057"/>
          </a:xfrm>
          <a:prstGeom prst="roundRect">
            <a:avLst>
              <a:gd name="adj" fmla="val 1004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423279" y="6920151"/>
            <a:ext cx="227528" cy="2275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65953" y="6830258"/>
            <a:ext cx="1896070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Совместный квест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2865953" y="7128153"/>
            <a:ext cx="9682401" cy="18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Строите общий объект в мире, получаете ачивки, делитесь прогрессом</a:t>
            </a:r>
            <a:endParaRPr lang="en-US" sz="1150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06375" y="79533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1516" y="955358"/>
            <a:ext cx="8108633" cy="42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Чем мы отличаемся от существующих решений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2601516" y="2772489"/>
            <a:ext cx="3082885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Сегодня нет единого сервиса для поиска напарников по хобби. Люди используют костыли — чаты, доски событий, знакомства в общих группах.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58" y="1598176"/>
            <a:ext cx="6011108" cy="3005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1516" y="4788694"/>
            <a:ext cx="4672489" cy="943927"/>
          </a:xfrm>
          <a:prstGeom prst="roundRect">
            <a:avLst>
              <a:gd name="adj" fmla="val 6079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53320" y="4940498"/>
            <a:ext cx="170783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Telegram-чаты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53320" y="5203150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Косвенный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53320" y="5416629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Слабость: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Хаос, нет структуры, сложно новичку найти группу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56277" y="4788694"/>
            <a:ext cx="4672489" cy="943927"/>
          </a:xfrm>
          <a:prstGeom prst="roundRect">
            <a:avLst>
              <a:gd name="adj" fmla="val 6079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8081" y="4940498"/>
            <a:ext cx="170783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Bumble BFF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08081" y="5203150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Косвенный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08081" y="5416629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Слабость: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Поиск «друга вообще», не под конкретное занятие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01516" y="5814893"/>
            <a:ext cx="4672489" cy="943927"/>
          </a:xfrm>
          <a:prstGeom prst="roundRect">
            <a:avLst>
              <a:gd name="adj" fmla="val 6079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53320" y="5966698"/>
            <a:ext cx="170783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Афиша (KudaGo)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53320" y="6229350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Косвенный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753320" y="6442829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Слабость: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Пользователь — зритель, не участник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56277" y="5814893"/>
            <a:ext cx="4672489" cy="943927"/>
          </a:xfrm>
          <a:prstGeom prst="roundRect">
            <a:avLst>
              <a:gd name="adj" fmla="val 6079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08081" y="5966698"/>
            <a:ext cx="170783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Habitica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08081" y="6229350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Косвенный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08081" y="6442829"/>
            <a:ext cx="4368879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Слабость: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Нет поиска напарников, только трекинг привычек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601516" y="6851333"/>
            <a:ext cx="9427250" cy="422791"/>
          </a:xfrm>
          <a:prstGeom prst="roundRect">
            <a:avLst>
              <a:gd name="adj" fmla="val 13573"/>
            </a:avLst>
          </a:prstGeom>
          <a:solidFill>
            <a:srgbClr val="C6E4EB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080" y="7031950"/>
            <a:ext cx="170736" cy="13656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045381" y="6967657"/>
            <a:ext cx="8846820" cy="16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Hobby Worlds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новый сегмент: ✅ Хочу + С кем + Игрефа в одном интерфейсе</a:t>
            </a:r>
            <a:endParaRPr lang="en-US" sz="1050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58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Дмитрий, 30 лет — наш типичный пользователь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73454"/>
            <a:ext cx="4205168" cy="2794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044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Профиль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626048"/>
            <a:ext cx="8284131" cy="201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IT-менеджер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Город: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Москва / миллионник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Доход: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Стабильный, есть на хобби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Жилье: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Съемная квартира, один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Чем занят: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YouTube, Telegram, «хотелки» в закладках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33951" y="6433423"/>
            <a:ext cx="1270265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«Когда нет планов на выходные, хочу найти простое занятие с обычными людьми, чтобы не чувствовать себя одиноким, несмотря на лень и страх» — JTBD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6178272"/>
            <a:ext cx="30480" cy="1190625"/>
          </a:xfrm>
          <a:prstGeom prst="rect">
            <a:avLst/>
          </a:prstGeom>
          <a:solidFill>
            <a:srgbClr val="95CCDA"/>
          </a:solidFill>
          <a:ln/>
        </p:spPr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0630"/>
            <a:ext cx="9354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Что бесит Дмитрия прямо сейчас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43037"/>
            <a:ext cx="4196358" cy="2705814"/>
          </a:xfrm>
          <a:prstGeom prst="roundRect">
            <a:avLst>
              <a:gd name="adj" fmla="val 540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343037"/>
            <a:ext cx="121920" cy="2705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600331"/>
            <a:ext cx="34241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😔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Одиночество в толпе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4090749"/>
            <a:ext cx="359033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Вечер пятницы без планов. Не с кем сходить в кино, попробовать новое кафе, посмотреть выставку. Все заняты, а он — один.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343037"/>
            <a:ext cx="4196358" cy="2705814"/>
          </a:xfrm>
          <a:prstGeom prst="roundRect">
            <a:avLst>
              <a:gd name="adj" fmla="val 540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343037"/>
            <a:ext cx="121920" cy="2705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600331"/>
            <a:ext cx="3129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🍿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Симптом попкорна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4090749"/>
            <a:ext cx="359033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Смотрит чужие успехи в Instagram — друзья открывают студии, учат языки, путешествуют. Сам сидит на диване с попкорном.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343037"/>
            <a:ext cx="4196358" cy="2705814"/>
          </a:xfrm>
          <a:prstGeom prst="roundRect">
            <a:avLst>
              <a:gd name="adj" fmla="val 540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343037"/>
            <a:ext cx="121920" cy="2705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6003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🚧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Порог входа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4090749"/>
            <a:ext cx="359033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крутые клубы и сообщества уже есть «свои» — вхождение кажется невозможным. Кажется, что все места заняты, а он опоздал.</a:t>
            </a:r>
            <a:endParaRPr lang="en-US" sz="175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7918" y="1108115"/>
            <a:ext cx="5121712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Рыночные возможности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735" y="1896308"/>
            <a:ext cx="1939409" cy="907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56603" y="2310646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516404" y="2066568"/>
            <a:ext cx="2129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SOM: 180K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516404" y="2409468"/>
            <a:ext cx="2222421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Доля в 10 городах за 2 года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88650" y="2815114"/>
            <a:ext cx="7761327" cy="11430"/>
          </a:xfrm>
          <a:prstGeom prst="roundRect">
            <a:avLst>
              <a:gd name="adj" fmla="val 625986"/>
            </a:avLst>
          </a:prstGeom>
          <a:solidFill>
            <a:srgbClr val="BFD3D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971" y="2845951"/>
            <a:ext cx="3878937" cy="9071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6603" y="3149798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86168" y="3016210"/>
            <a:ext cx="2129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SAM: 9M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86168" y="3359110"/>
            <a:ext cx="2926318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Горожане 25-40 с интересом к хобби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58414" y="3764756"/>
            <a:ext cx="6791563" cy="11430"/>
          </a:xfrm>
          <a:prstGeom prst="roundRect">
            <a:avLst>
              <a:gd name="adj" fmla="val 625986"/>
            </a:avLst>
          </a:prstGeom>
          <a:solidFill>
            <a:srgbClr val="BFD3D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207" y="3795593"/>
            <a:ext cx="5818465" cy="907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56603" y="4099441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7455932" y="3965853"/>
            <a:ext cx="2129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TAM: 60M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455932" y="4308753"/>
            <a:ext cx="3135392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горожане РФ 16-35 со смартфоном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437918" y="4846558"/>
            <a:ext cx="11754564" cy="1584484"/>
          </a:xfrm>
          <a:prstGeom prst="roundRect">
            <a:avLst>
              <a:gd name="adj" fmla="val 45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445538" y="4854178"/>
            <a:ext cx="11739324" cy="3923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615916" y="4938474"/>
            <a:ext cx="2590443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Показатель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54498" y="4938474"/>
            <a:ext cx="3760589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Значение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63226" y="4938474"/>
            <a:ext cx="4351377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это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445538" y="5246489"/>
            <a:ext cx="11739324" cy="3923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615916" y="5330785"/>
            <a:ext cx="2590443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54498" y="5330785"/>
            <a:ext cx="3760589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млн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663226" y="5330785"/>
            <a:ext cx="4351377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горожане РФ 18-55 со смартфоном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445538" y="5638800"/>
            <a:ext cx="11739324" cy="3923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1615916" y="5723096"/>
            <a:ext cx="2590443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54498" y="5723096"/>
            <a:ext cx="3760589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млн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663226" y="5723096"/>
            <a:ext cx="4351377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Горожане 25-40 с интересом к хобби (15% от TAM)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1445538" y="6031111"/>
            <a:ext cx="11739324" cy="3923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1615916" y="6115407"/>
            <a:ext cx="2590443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 (2 года)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554498" y="6115407"/>
            <a:ext cx="3760589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120 000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663226" y="6115407"/>
            <a:ext cx="4351377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Наша доля в 10 крупных городах (2% от SAM)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437918" y="6574869"/>
            <a:ext cx="1175456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Выручка (SOM):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180 000 × 5% (премиум) × 200 ₽ × 12 = </a:t>
            </a:r>
            <a:r>
              <a:rPr lang="en-US" sz="1300" b="1" dirty="0">
                <a:solidFill>
                  <a:srgbClr val="481C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~21,6 млн ₽/год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437918" y="6942415"/>
            <a:ext cx="11754564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Источник: Данные ФНС, Росстат</a:t>
            </a:r>
            <a:endParaRPr lang="en-US" sz="1050" dirty="0"/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5277"/>
            <a:ext cx="61336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 мы зарабатываем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27684"/>
            <a:ext cx="4196358" cy="3941326"/>
          </a:xfrm>
          <a:prstGeom prst="roundRect">
            <a:avLst>
              <a:gd name="adj" fmla="val 24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662118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15390" y="2849166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569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Premium (Основное)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4059793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199-299 ₽/мес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8224" y="4536043"/>
            <a:ext cx="3727490" cy="15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Безлимит целей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по всему городу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Уникальные скины для «Мира»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Значок «Надежный напарник»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427684"/>
            <a:ext cx="4196358" cy="3941326"/>
          </a:xfrm>
          <a:prstGeom prst="roundRect">
            <a:avLst>
              <a:gd name="adj" fmla="val 24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2662118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638562" y="2849166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3569375"/>
            <a:ext cx="3411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Партнерская программа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51396" y="4059793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с Ozon, Wildberries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5451396" y="4536043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Процент с покупок для хобби — кисти, материалы, инструменты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427684"/>
            <a:ext cx="4196358" cy="3941326"/>
          </a:xfrm>
          <a:prstGeom prst="roundRect">
            <a:avLst>
              <a:gd name="adj" fmla="val 24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4568" y="2662118"/>
            <a:ext cx="680442" cy="680442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61734" y="2849166"/>
            <a:ext cx="306110" cy="30611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4568" y="356937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Комиссия с ивентов (future)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9874568" y="4414123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Сбор средств на аренду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9874568" y="4890373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Организация платных событий — мастер-классы, поездки, тусовки</a:t>
            </a:r>
            <a:endParaRPr lang="en-US" sz="1750" dirty="0"/>
          </a:p>
        </p:txBody>
      </p:sp>
      <p:sp>
        <p:nvSpPr>
          <p:cNvPr id="21" name="Text 13"/>
          <p:cNvSpPr/>
          <p:nvPr/>
        </p:nvSpPr>
        <p:spPr>
          <a:xfrm>
            <a:off x="793790" y="6624161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481C9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Freemium-модель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база бесплатно, фишки за подписку</a:t>
            </a:r>
            <a:endParaRPr lang="en-US" sz="175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53975" y="7800974"/>
            <a:ext cx="1876425" cy="3079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864</Words>
  <Application>Microsoft Office PowerPoint</Application>
  <PresentationFormat>Произвольный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Host Grotesk Medium</vt:lpstr>
      <vt:lpstr>Calibri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Даниил Козлов</cp:lastModifiedBy>
  <cp:revision>2</cp:revision>
  <dcterms:created xsi:type="dcterms:W3CDTF">2026-03-12T12:46:12Z</dcterms:created>
  <dcterms:modified xsi:type="dcterms:W3CDTF">2026-03-12T12:50:47Z</dcterms:modified>
</cp:coreProperties>
</file>